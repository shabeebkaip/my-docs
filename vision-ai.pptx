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8BDF8"/>
                </a:solidFill>
              </a:rPr>
              <a:t>LIVE INTELLIGENCE  ·  ENTERPRISE READY  ·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92024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0F4FF"/>
                </a:solidFill>
              </a:rPr>
              <a:t>Vision AI &amp;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60604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38BDF8"/>
                </a:solidFill>
              </a:rPr>
              <a:t>CCTV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4290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</a:rPr>
              <a:t>Capabilities &amp; Solutions Catalogue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49039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B5A72"/>
                </a:solidFill>
              </a:rPr>
              <a:t>Secure · Ethical · IoT-Integrated AI Vision for Enterprise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29768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EA5E9"/>
                </a:solidFill>
              </a:rPr>
              <a:t>No Camera Replacement   |   RTSP / ONVIF   |   PDPL · NCA · GDPR   |   Edge or Cloud   |   Arabic &amp; English Native   |   IoT Integrated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8BDF8"/>
                </a:solidFill>
              </a:rPr>
              <a:t>WHAT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0F4FF"/>
                </a:solidFill>
              </a:rPr>
              <a:t>We Turn Cameras Into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Tap directly into your existing RTSP or ONVIF streams — no hardware replacement.
AI runs at the edge or cloud, routing the right alert to the right person on the right channel.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4FF"/>
                </a:solidFill>
              </a:rPr>
              <a:t>• Works with any existing CCTV camera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5292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4FF"/>
                </a:solidFill>
              </a:rPr>
              <a:t>• Hikvision, Dahua, Axis, Bosch, CP Plus — all supported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3697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4FF"/>
                </a:solidFill>
              </a:rPr>
              <a:t>• Every detection can trigger IoT: lights, locks, alarms, barriers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2102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4FF"/>
                </a:solidFill>
              </a:rPr>
              <a:t>• Pilots live in days, not months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1280160"/>
            <a:ext cx="2286000" cy="1737360"/>
          </a:xfrm>
          <a:prstGeom prst="rect">
            <a:avLst/>
          </a:prstGeom>
          <a:solidFill>
            <a:srgbClr val="080D1C"/>
          </a:solidFill>
          <a:ln w="12700">
            <a:solidFill>
              <a:srgbClr val="4B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916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38BDF8"/>
                </a:solidFill>
              </a:rPr>
              <a:t>500+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331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Camera Brands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52560" y="1280160"/>
            <a:ext cx="2286000" cy="1737360"/>
          </a:xfrm>
          <a:prstGeom prst="rect">
            <a:avLst/>
          </a:prstGeom>
          <a:solidFill>
            <a:srgbClr val="080D1C"/>
          </a:solidFill>
          <a:ln w="12700">
            <a:solidFill>
              <a:srgbClr val="4B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6916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38BDF8"/>
                </a:solidFill>
              </a:rPr>
              <a:t>20+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331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Industries Served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3291840"/>
            <a:ext cx="2286000" cy="1737360"/>
          </a:xfrm>
          <a:prstGeom prst="rect">
            <a:avLst/>
          </a:prstGeom>
          <a:solidFill>
            <a:srgbClr val="080D1C"/>
          </a:solidFill>
          <a:ln w="12700">
            <a:solidFill>
              <a:srgbClr val="4B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70332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38BDF8"/>
                </a:solidFill>
              </a:rPr>
              <a:t>40%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343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Accuracy Gain vs generic cloud APIs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3291840"/>
            <a:ext cx="2286000" cy="1737360"/>
          </a:xfrm>
          <a:prstGeom prst="rect">
            <a:avLst/>
          </a:prstGeom>
          <a:solidFill>
            <a:srgbClr val="080D1C"/>
          </a:solidFill>
          <a:ln w="12700">
            <a:solidFill>
              <a:srgbClr val="4B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370332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38BDF8"/>
                </a:solidFill>
              </a:rPr>
              <a:t>99.9%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4343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Uptime SLA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78BFA"/>
                </a:solidFill>
              </a:rPr>
              <a:t>THE SENSORY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0F4FF"/>
                </a:solidFill>
              </a:rPr>
              <a:t>Five Products.  One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No competitor in the GCC has this under one roof.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920240"/>
            <a:ext cx="2286000" cy="4206240"/>
          </a:xfrm>
          <a:prstGeom prst="rect">
            <a:avLst/>
          </a:prstGeom>
          <a:solidFill>
            <a:srgbClr val="02040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057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0F4FF"/>
                </a:solidFill>
              </a:rPr>
              <a:t>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514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8BDF8"/>
                </a:solidFill>
              </a:rPr>
              <a:t>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8346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0F4FF"/>
                </a:solidFill>
              </a:rPr>
              <a:t>Vision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2011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Real-time detection, tracking, recognition &amp; counting on any camera stream.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79192" y="1920240"/>
            <a:ext cx="2286000" cy="4206240"/>
          </a:xfrm>
          <a:prstGeom prst="rect">
            <a:avLst/>
          </a:prstGeom>
          <a:solidFill>
            <a:srgbClr val="02040F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2" y="2057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0F4FF"/>
                </a:solidFill>
              </a:rPr>
              <a:t>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514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BBF24"/>
                </a:solidFill>
              </a:rPr>
              <a:t>+ Voice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9192" y="28346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0F4FF"/>
                </a:solidFill>
              </a:rPr>
              <a:t>AIKA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6352" y="3337560"/>
            <a:ext cx="2011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Auto-calls supervisors in Arabic, English, Malayalam, Hindi. Escalates until acknowledged.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38344" y="1920240"/>
            <a:ext cx="2286000" cy="4206240"/>
          </a:xfrm>
          <a:prstGeom prst="rect">
            <a:avLst/>
          </a:prstGeom>
          <a:solidFill>
            <a:srgbClr val="02040F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8344" y="2057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0F4FF"/>
                </a:solidFill>
              </a:rPr>
              <a:t>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8344" y="2514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34D399"/>
                </a:solidFill>
              </a:rPr>
              <a:t>+ Chat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38344" y="28346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0F4FF"/>
                </a:solidFill>
              </a:rPr>
              <a:t>AIWA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5504" y="3337560"/>
            <a:ext cx="2011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AI agent across WhatsApp, Telegram, Slack, Teams and web portals.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97496" y="1920240"/>
            <a:ext cx="2286000" cy="4206240"/>
          </a:xfrm>
          <a:prstGeom prst="rect">
            <a:avLst/>
          </a:prstGeom>
          <a:solidFill>
            <a:srgbClr val="02040F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97496" y="2057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0F4FF"/>
                </a:solidFill>
              </a:rPr>
              <a:t>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7496" y="2514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78BFA"/>
                </a:solidFill>
              </a:rPr>
              <a:t>+ Enhancement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7496" y="28346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0F4FF"/>
                </a:solidFill>
              </a:rPr>
              <a:t>VisualAI Studio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34656" y="3337560"/>
            <a:ext cx="2011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Upscales blurry CCTV frames to forensic-quality faces and plates.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56648" y="1920240"/>
            <a:ext cx="2286000" cy="4206240"/>
          </a:xfrm>
          <a:prstGeom prst="rect">
            <a:avLst/>
          </a:prstGeom>
          <a:solidFill>
            <a:srgbClr val="02040F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56648" y="2057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0F4FF"/>
                </a:solidFill>
              </a:rPr>
              <a:t>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56648" y="2514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87171"/>
                </a:solidFill>
              </a:rPr>
              <a:t>+ Intelligence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56648" y="28346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0F4FF"/>
                </a:solidFill>
              </a:rPr>
              <a:t>RAG Intelligence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93808" y="3337560"/>
            <a:ext cx="2011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Plain-English search across months of footage. Daily briefings &amp; timelines.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8BDF8"/>
                </a:solidFill>
              </a:rPr>
              <a:t>DETECTION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0F4FF"/>
                </a:solidFill>
              </a:rPr>
              <a:t>16 AI Capabilities.  Running Simultaneously.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Mix and match per site, per zone, per client — all from a single platform.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828800"/>
            <a:ext cx="2834640" cy="4663440"/>
          </a:xfrm>
          <a:prstGeom prst="rect">
            <a:avLst/>
          </a:prstGeom>
          <a:solidFill>
            <a:srgbClr val="080D1C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87171"/>
                </a:solidFill>
              </a:rPr>
              <a:t>🛡️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4FF"/>
                </a:solidFill>
              </a:rPr>
              <a:t>Weapon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B5A72"/>
                </a:solidFill>
              </a:rPr>
              <a:t>Knives, firearms — human escalated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4FF"/>
                </a:solidFill>
              </a:rPr>
              <a:t>Fire &amp; Smoke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B5A72"/>
                </a:solidFill>
              </a:rPr>
              <a:t>Early stage — before sprinklers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4FF"/>
                </a:solidFill>
              </a:rPr>
              <a:t>Aggression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B5A72"/>
                </a:solidFill>
              </a:rPr>
              <a:t>Physical contact · rapid motion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9496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4FF"/>
                </a:solidFill>
              </a:rPr>
              <a:t>Loitering &amp; Dwell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66928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B5A72"/>
                </a:solidFill>
              </a:rPr>
              <a:t>Configurable threshold per zone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64408" y="1828800"/>
            <a:ext cx="2834640" cy="4663440"/>
          </a:xfrm>
          <a:prstGeom prst="rect">
            <a:avLst/>
          </a:prstGeom>
          <a:solidFill>
            <a:srgbClr val="080D1C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01568" y="1920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</a:rPr>
              <a:t>⚠️ 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23774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4FF"/>
                </a:solidFill>
              </a:rPr>
              <a:t>PPE 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265176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B5A72"/>
                </a:solidFill>
              </a:rPr>
              <a:t>Helmet, vest, gloves, harness per zone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338328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4FF"/>
                </a:solidFill>
              </a:rPr>
              <a:t>Pose &amp; Fall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365760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B5A72"/>
                </a:solidFill>
              </a:rPr>
              <a:t>MediaPipe skeleton · life safety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438912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4FF"/>
                </a:solidFill>
              </a:rPr>
              <a:t>Smoking / Phone / Sleeping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1568" y="466344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B5A72"/>
                </a:solidFill>
              </a:rPr>
              <a:t>Zero-tolerance · 3-second alert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1568" y="539496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4FF"/>
                </a:solidFill>
              </a:rPr>
              <a:t>Crowd Density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1568" y="566928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B5A72"/>
                </a:solidFill>
              </a:rPr>
              <a:t>Predictive surge before threshold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8776" y="1828800"/>
            <a:ext cx="2834640" cy="4663440"/>
          </a:xfrm>
          <a:prstGeom prst="rect">
            <a:avLst/>
          </a:prstGeom>
          <a:solidFill>
            <a:srgbClr val="080D1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5936" y="1920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</a:rPr>
              <a:t>📊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23774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4FF"/>
                </a:solidFill>
              </a:rPr>
              <a:t>Person &amp; Vehicle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265176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B5A72"/>
                </a:solidFill>
              </a:rPr>
              <a:t>Multi-class · re-ID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5936" y="338328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4FF"/>
                </a:solidFill>
              </a:rPr>
              <a:t>Thermal Heatmaps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5936" y="365760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B5A72"/>
                </a:solidFill>
              </a:rPr>
              <a:t>Anonymous dwell &amp; traffic 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5936" y="438912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4FF"/>
                </a:solidFill>
              </a:rPr>
              <a:t>Counting &amp; Queue 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5936" y="466344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B5A72"/>
                </a:solidFill>
              </a:rPr>
              <a:t>Bi-directional · service 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5936" y="539496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4FF"/>
                </a:solidFill>
              </a:rPr>
              <a:t>Anonymous Demographics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5936" y="566928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B5A72"/>
                </a:solidFill>
              </a:rPr>
              <a:t>Age bracket · gender — no identity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53144" y="1828800"/>
            <a:ext cx="2834640" cy="4663440"/>
          </a:xfrm>
          <a:prstGeom prst="rect">
            <a:avLst/>
          </a:prstGeom>
          <a:solidFill>
            <a:srgbClr val="080D1C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90304" y="1920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</a:rPr>
              <a:t>🧠 Intelligence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0304" y="23774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4FF"/>
                </a:solidFill>
              </a:rPr>
              <a:t>Face Recognition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90304" y="265176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B5A72"/>
                </a:solidFill>
              </a:rPr>
              <a:t>1:1 verify · 1:N search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0304" y="338328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4FF"/>
                </a:solidFill>
              </a:rPr>
              <a:t>ANPR / LPR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0304" y="365760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B5A72"/>
                </a:solidFill>
              </a:rPr>
              <a:t>GCC, India, EU plates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90304" y="438912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4FF"/>
                </a:solidFill>
              </a:rPr>
              <a:t>Multi-Camera Tracking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90304" y="466344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B5A72"/>
                </a:solidFill>
              </a:rPr>
              <a:t>Re-ID follows person site-wide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90304" y="539496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4FF"/>
                </a:solidFill>
              </a:rPr>
              <a:t>OCR &amp; Gauge Reading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90304" y="566928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B5A72"/>
                </a:solidFill>
              </a:rPr>
              <a:t>Labels · analogue gauges to SCADA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78BFA"/>
                </a:solidFill>
              </a:rPr>
              <a:t>KILLER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0F4FF"/>
                </a:solidFill>
              </a:rPr>
              <a:t>Search Footage in Plain English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46304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No regional competitor packages this today. Demo these queries live in the meeting.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5A72"/>
                </a:solidFill>
              </a:rPr>
              <a:t>CodeOx Intelligence Console — Footage Search   |   Gemini · GPT-4 Vision · Claude · RAG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10881360" cy="868680"/>
          </a:xfrm>
          <a:prstGeom prst="rect">
            <a:avLst/>
          </a:prstGeom>
          <a:solidFill>
            <a:srgbClr val="080D1C"/>
          </a:solidFill>
          <a:ln w="12700">
            <a:solidFill>
              <a:srgbClr val="4B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F"/>
                </a:solidFill>
              </a:rPr>
              <a:t>⚠️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46888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4FF"/>
                </a:solidFill>
              </a:rPr>
              <a:t>Show me every time a forklift came near a worker without a vest last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852928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B5A72"/>
                </a:solidFill>
              </a:rPr>
              <a:t>Safety compliance · Warehouse · Date range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66960" y="2624328"/>
            <a:ext cx="1325880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0" y="262432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14 clips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83280"/>
            <a:ext cx="10881360" cy="868680"/>
          </a:xfrm>
          <a:prstGeom prst="rect">
            <a:avLst/>
          </a:prstGeom>
          <a:solidFill>
            <a:srgbClr val="080D1C"/>
          </a:solidFill>
          <a:ln w="12700">
            <a:solidFill>
              <a:srgbClr val="4B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661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F"/>
                </a:solidFill>
              </a:rP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47472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4FF"/>
                </a:solidFill>
              </a:rPr>
              <a:t>Find the customer in a red shirt at counter four around 3:15 PM yesterday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858768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B5A72"/>
                </a:solidFill>
              </a:rPr>
              <a:t>Person search · Multi-camera · Retail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66960" y="3630168"/>
            <a:ext cx="1325880" cy="3474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0" y="363016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3 clips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389120"/>
            <a:ext cx="10881360" cy="868680"/>
          </a:xfrm>
          <a:prstGeom prst="rect">
            <a:avLst/>
          </a:prstGeom>
          <a:solidFill>
            <a:srgbClr val="080D1C"/>
          </a:solidFill>
          <a:ln w="12700">
            <a:solidFill>
              <a:srgbClr val="4B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572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F"/>
                </a:solidFill>
              </a:rPr>
              <a:t>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48056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4FF"/>
                </a:solidFill>
              </a:rPr>
              <a:t>How many after-hours entries to the pharmacy this month?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864608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B5A72"/>
                </a:solidFill>
              </a:rPr>
              <a:t>Access analytics · Compliance report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66960" y="4636008"/>
            <a:ext cx="1325880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0" y="463600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7 entries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394960"/>
            <a:ext cx="10881360" cy="868680"/>
          </a:xfrm>
          <a:prstGeom prst="rect">
            <a:avLst/>
          </a:prstGeom>
          <a:solidFill>
            <a:srgbClr val="080D1C"/>
          </a:solidFill>
          <a:ln w="12700">
            <a:solidFill>
              <a:srgbClr val="4B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577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F"/>
                </a:solidFill>
              </a:rPr>
              <a:t>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48640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4FF"/>
                </a:solidFill>
              </a:rPr>
              <a:t>Which loading bay had the most idle truck dwell last week?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870448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B5A72"/>
                </a:solidFill>
              </a:rPr>
              <a:t>Operations analytics · Logistics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66960" y="5641848"/>
            <a:ext cx="1325880" cy="3474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60" y="564184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Bay 3 — 4.2h avg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</a:rPr>
              <a:t>ETHICS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4FF"/>
                </a:solidFill>
              </a:rPr>
              <a:t>Built In.  Not Bolted 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PDPL, GDPR, and NCA-ready from day one — a core reason enterprises choose us over foreign SaaS.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011680"/>
            <a:ext cx="2286000" cy="4206240"/>
          </a:xfrm>
          <a:prstGeom prst="rect">
            <a:avLst/>
          </a:prstGeom>
          <a:solidFill>
            <a:srgbClr val="080D1C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148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0F4FF"/>
                </a:solidFill>
              </a:rPr>
              <a:t>🏛️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0F4FF"/>
                </a:solidFill>
              </a:rPr>
              <a:t>Data Sovereignty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10896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UAE, KSA, India hosting or full on-prem.
Data never leaves jurisdiction without client authorization.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679192" y="2011680"/>
            <a:ext cx="2286000" cy="4206240"/>
          </a:xfrm>
          <a:prstGeom prst="rect">
            <a:avLst/>
          </a:prstGeom>
          <a:solidFill>
            <a:srgbClr val="080D1C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9192" y="2148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0F4FF"/>
                </a:solidFill>
              </a:rPr>
              <a:t>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0632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0F4FF"/>
                </a:solidFill>
              </a:rPr>
              <a:t>Privacy by Default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0632" y="310896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Face blurring, anonymous heatmaps, masked zones — PDPL-safe out of the box.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38344" y="2011680"/>
            <a:ext cx="2286000" cy="4206240"/>
          </a:xfrm>
          <a:prstGeom prst="rect">
            <a:avLst/>
          </a:prstGeom>
          <a:solidFill>
            <a:srgbClr val="080D1C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38344" y="2148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0F4FF"/>
                </a:solidFill>
              </a:rPr>
              <a:t>👁️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4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0F4FF"/>
                </a:solidFill>
              </a:rPr>
              <a:t>Full Audit Trail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9784" y="310896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Every view, search, and export logged.
Complete record of who saw what and when.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97496" y="2011680"/>
            <a:ext cx="2286000" cy="4206240"/>
          </a:xfrm>
          <a:prstGeom prst="rect">
            <a:avLst/>
          </a:prstGeom>
          <a:solidFill>
            <a:srgbClr val="080D1C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97496" y="2148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0F4FF"/>
                </a:solidFill>
              </a:rPr>
              <a:t>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936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0F4FF"/>
                </a:solidFill>
              </a:rPr>
              <a:t>Human-in-the-Loop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88936" y="310896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Weapon, fire, medical — always escalates to a human first. AI informs; humans decide.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56648" y="2011680"/>
            <a:ext cx="2286000" cy="4206240"/>
          </a:xfrm>
          <a:prstGeom prst="rect">
            <a:avLst/>
          </a:prstGeom>
          <a:solidFill>
            <a:srgbClr val="080D1C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56648" y="2148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0F4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48088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0F4FF"/>
                </a:solidFill>
              </a:rPr>
              <a:t>Transparent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48088" y="310896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Every alert shows what was detected, why it fired, and the confidence level. No black box.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8BDF8"/>
                </a:solidFill>
              </a:rPr>
              <a:t>ALERT CHANNELS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0F4FF"/>
                </a:solidFill>
              </a:rPr>
              <a:t>Right Alert.  Right Person.  Right Channel.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Any detection combines multiple channels simultaneously. Arabic, English, Hindi, Malayalam, Tamil — all native.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920240"/>
            <a:ext cx="3794760" cy="2011680"/>
          </a:xfrm>
          <a:prstGeom prst="rect">
            <a:avLst/>
          </a:prstGeom>
          <a:solidFill>
            <a:srgbClr val="02040F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4FF"/>
                </a:solidFill>
              </a:rPr>
              <a:t>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4FF"/>
                </a:solidFill>
              </a:rPr>
              <a:t>AIKA Voice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Auto-calls in your language. Escalates up the chain every 60 seconds until acknowledged.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399" y="1920240"/>
            <a:ext cx="3794760" cy="2011680"/>
          </a:xfrm>
          <a:prstGeom prst="rect">
            <a:avLst/>
          </a:prstGeom>
          <a:solidFill>
            <a:srgbClr val="02040F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79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4FF"/>
                </a:solidFill>
              </a:rPr>
              <a:t>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2606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4FF"/>
                </a:solidFill>
              </a:rPr>
              <a:t>AIWA Chat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9718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WhatsApp, Telegram, Slack, Teams. Sends clips, handles approvals, answers queries.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38" y="1920240"/>
            <a:ext cx="3794760" cy="2011680"/>
          </a:xfrm>
          <a:prstGeom prst="rect">
            <a:avLst/>
          </a:prstGeom>
          <a:solidFill>
            <a:srgbClr val="02040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18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4FF"/>
                </a:solidFill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8" y="2606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4FF"/>
                </a:solidFill>
              </a:rPr>
              <a:t>Live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8" y="29718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Multi-site feed with AI overlay, heatmaps, counters and footage search.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06240"/>
            <a:ext cx="3794760" cy="2011680"/>
          </a:xfrm>
          <a:prstGeom prst="rect">
            <a:avLst/>
          </a:prstGeom>
          <a:solidFill>
            <a:srgbClr val="02040F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389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4FF"/>
                </a:solidFill>
              </a:rPr>
              <a:t>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892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4FF"/>
                </a:solidFill>
              </a:rPr>
              <a:t>Email 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2578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Daily summaries, incident reports, compliance records per site and event type.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399" y="4206240"/>
            <a:ext cx="3794760" cy="2011680"/>
          </a:xfrm>
          <a:prstGeom prst="rect">
            <a:avLst/>
          </a:prstGeom>
          <a:solidFill>
            <a:srgbClr val="02040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79" y="4389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4FF"/>
                </a:solidFill>
              </a:rPr>
              <a:t>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79" y="4892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4FF"/>
                </a:solidFill>
              </a:rPr>
              <a:t>SMS Fallback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79" y="52578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Field staff without data plans. Always-on last-resort on any network.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38" y="4206240"/>
            <a:ext cx="3794760" cy="2011680"/>
          </a:xfrm>
          <a:prstGeom prst="rect">
            <a:avLst/>
          </a:prstGeom>
          <a:solidFill>
            <a:srgbClr val="02040F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18" y="4389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4FF"/>
                </a:solidFill>
              </a:rPr>
              <a:t>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18" y="4892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4FF"/>
                </a:solidFill>
              </a:rPr>
              <a:t>API &amp; Webhooks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18" y="52578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SAP, Oracle, Dynamics, SIEM, SOAR. REST, GraphQL, custom payload schema.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8BDF8"/>
                </a:solidFill>
              </a:rPr>
              <a:t>SOLUTIONS CATALOGUE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4FF"/>
                </a:solidFill>
              </a:rPr>
              <a:t>Built for Any Industry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417320"/>
            <a:ext cx="2240280" cy="1508760"/>
          </a:xfrm>
          <a:prstGeom prst="rect">
            <a:avLst/>
          </a:prstGeom>
          <a:solidFill>
            <a:srgbClr val="080D1C"/>
          </a:solidFill>
          <a:ln w="12700">
            <a:solidFill>
              <a:srgbClr val="4B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5270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4FF"/>
                </a:solidFill>
              </a:rPr>
              <a:t>🏭 Manufacturing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892808"/>
            <a:ext cx="2011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PPE compliance, machine hazard stop, visual QC, forklift safety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417320"/>
            <a:ext cx="2240280" cy="1508760"/>
          </a:xfrm>
          <a:prstGeom prst="rect">
            <a:avLst/>
          </a:prstGeom>
          <a:solidFill>
            <a:srgbClr val="080D1C"/>
          </a:solidFill>
          <a:ln w="12700">
            <a:solidFill>
              <a:srgbClr val="4B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61488" y="15270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4FF"/>
                </a:solidFill>
              </a:rPr>
              <a:t>📦 Warehouse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1892808"/>
            <a:ext cx="2011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LPR + manifest check, SKU mis-pick detection, theft patterns, cold chain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417320"/>
            <a:ext cx="2240280" cy="1508760"/>
          </a:xfrm>
          <a:prstGeom prst="rect">
            <a:avLst/>
          </a:prstGeom>
          <a:solidFill>
            <a:srgbClr val="080D1C"/>
          </a:solidFill>
          <a:ln w="12700">
            <a:solidFill>
              <a:srgbClr val="4B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38928" y="15270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4FF"/>
                </a:solidFill>
              </a:rPr>
              <a:t>🛍️ Retail &amp; Malls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8928" y="1892808"/>
            <a:ext cx="2011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Footfall heatmaps, shoplifting, lost child search, VIP recognition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417320"/>
            <a:ext cx="2240280" cy="1508760"/>
          </a:xfrm>
          <a:prstGeom prst="rect">
            <a:avLst/>
          </a:prstGeom>
          <a:solidFill>
            <a:srgbClr val="080D1C"/>
          </a:solidFill>
          <a:ln w="12700">
            <a:solidFill>
              <a:srgbClr val="4B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16368" y="15270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4FF"/>
                </a:solidFill>
              </a:rPr>
              <a:t>🛒 Supermarkets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6368" y="1892808"/>
            <a:ext cx="2011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Shrinkage &amp; SCO fraud, planogram compliance, queue optimisation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84080" y="1417320"/>
            <a:ext cx="2240280" cy="1508760"/>
          </a:xfrm>
          <a:prstGeom prst="rect">
            <a:avLst/>
          </a:prstGeom>
          <a:solidFill>
            <a:srgbClr val="080D1C"/>
          </a:solidFill>
          <a:ln w="12700">
            <a:solidFill>
              <a:srgbClr val="4B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93808" y="15270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4FF"/>
                </a:solidFill>
              </a:rPr>
              <a:t>🍽️ Restaurants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93808" y="1892808"/>
            <a:ext cx="2011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Queue management, kitchen ops, dining analytics, POS integration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108960"/>
            <a:ext cx="2240280" cy="1508760"/>
          </a:xfrm>
          <a:prstGeom prst="rect">
            <a:avLst/>
          </a:prstGeom>
          <a:solidFill>
            <a:srgbClr val="080D1C"/>
          </a:solidFill>
          <a:ln w="12700">
            <a:solidFill>
              <a:srgbClr val="4B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32186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4FF"/>
                </a:solidFill>
              </a:rPr>
              <a:t>🏨 Hotels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3584448"/>
            <a:ext cx="2011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VIP arrival, pool distress, housekeeping SLA, banquet verification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3108960"/>
            <a:ext cx="2240280" cy="1508760"/>
          </a:xfrm>
          <a:prstGeom prst="rect">
            <a:avLst/>
          </a:prstGeom>
          <a:solidFill>
            <a:srgbClr val="080D1C"/>
          </a:solidFill>
          <a:ln w="12700">
            <a:solidFill>
              <a:srgbClr val="4B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61488" y="32186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4FF"/>
                </a:solidFill>
              </a:rPr>
              <a:t>🏥 Healthcare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1488" y="3584448"/>
            <a:ext cx="2011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Patient fall detection, pharmacy dual-person, wandering alerts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3108960"/>
            <a:ext cx="2240280" cy="1508760"/>
          </a:xfrm>
          <a:prstGeom prst="rect">
            <a:avLst/>
          </a:prstGeom>
          <a:solidFill>
            <a:srgbClr val="080D1C"/>
          </a:solidFill>
          <a:ln w="12700">
            <a:solidFill>
              <a:srgbClr val="4B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38928" y="32186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4FF"/>
                </a:solidFill>
              </a:rPr>
              <a:t>🏗️ Construction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3584448"/>
            <a:ext cx="2011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PPE &amp; height-work, equipment proximity, perimeter, BIM progress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3108960"/>
            <a:ext cx="2240280" cy="1508760"/>
          </a:xfrm>
          <a:prstGeom prst="rect">
            <a:avLst/>
          </a:prstGeom>
          <a:solidFill>
            <a:srgbClr val="080D1C"/>
          </a:solidFill>
          <a:ln w="12700">
            <a:solidFill>
              <a:srgbClr val="4B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16368" y="32186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4FF"/>
                </a:solidFill>
              </a:rPr>
              <a:t>⛽ Oil &amp; Gas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8" y="3584448"/>
            <a:ext cx="2011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Tank farm perimeter, smoking in ATEX, confined space, gauge reading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84080" y="3108960"/>
            <a:ext cx="2240280" cy="1508760"/>
          </a:xfrm>
          <a:prstGeom prst="rect">
            <a:avLst/>
          </a:prstGeom>
          <a:solidFill>
            <a:srgbClr val="080D1C"/>
          </a:solidFill>
          <a:ln w="12700">
            <a:solidFill>
              <a:srgbClr val="4B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93808" y="32186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4FF"/>
                </a:solidFill>
              </a:rPr>
              <a:t>🏦 Banking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3584448"/>
            <a:ext cx="2011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ATM skimmer, vault dual-person, suspicious behaviour, CIT verification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800600"/>
            <a:ext cx="2240280" cy="1508760"/>
          </a:xfrm>
          <a:prstGeom prst="rect">
            <a:avLst/>
          </a:prstGeom>
          <a:solidFill>
            <a:srgbClr val="080D1C"/>
          </a:solidFill>
          <a:ln w="12700">
            <a:solidFill>
              <a:srgbClr val="4B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49103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4FF"/>
                </a:solidFill>
              </a:rPr>
              <a:t>🎓 Schools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5276088"/>
            <a:ext cx="2011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Bullying/fight detection, stranger entry, bus drop-off, attendance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51760" y="4800600"/>
            <a:ext cx="2240280" cy="1508760"/>
          </a:xfrm>
          <a:prstGeom prst="rect">
            <a:avLst/>
          </a:prstGeom>
          <a:solidFill>
            <a:srgbClr val="080D1C"/>
          </a:solidFill>
          <a:ln w="12700">
            <a:solidFill>
              <a:srgbClr val="4B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61488" y="49103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4FF"/>
                </a:solidFill>
              </a:rPr>
              <a:t>🏘️ Residential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61488" y="5276088"/>
            <a:ext cx="2011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Visitor pre-approval, pool safety, parcel theft, night perimeter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0" y="4800600"/>
            <a:ext cx="2240280" cy="1508760"/>
          </a:xfrm>
          <a:prstGeom prst="rect">
            <a:avLst/>
          </a:prstGeom>
          <a:solidFill>
            <a:srgbClr val="080D1C"/>
          </a:solidFill>
          <a:ln w="12700">
            <a:solidFill>
              <a:srgbClr val="4B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38928" y="49103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4FF"/>
                </a:solidFill>
              </a:rPr>
              <a:t>💎 Jewellery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38928" y="5276088"/>
            <a:ext cx="2011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Display case tamper, distraction theft, vault rule, switch detection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06640" y="4800600"/>
            <a:ext cx="2240280" cy="1508760"/>
          </a:xfrm>
          <a:prstGeom prst="rect">
            <a:avLst/>
          </a:prstGeom>
          <a:solidFill>
            <a:srgbClr val="080D1C"/>
          </a:solidFill>
          <a:ln w="12700">
            <a:solidFill>
              <a:srgbClr val="4B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16368" y="49103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4FF"/>
                </a:solidFill>
              </a:rPr>
              <a:t>🅿️ Parking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16368" y="5276088"/>
            <a:ext cx="2011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Smart LPR, live occupancy, wrong-way detection, EV bay compliance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84080" y="4800600"/>
            <a:ext cx="2240280" cy="1508760"/>
          </a:xfrm>
          <a:prstGeom prst="rect">
            <a:avLst/>
          </a:prstGeom>
          <a:solidFill>
            <a:srgbClr val="080D1C"/>
          </a:solidFill>
          <a:ln w="12700">
            <a:solidFill>
              <a:srgbClr val="4B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93808" y="49103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4FF"/>
                </a:solidFill>
              </a:rPr>
              <a:t>🏙️ Smart City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93808" y="5276088"/>
            <a:ext cx="2011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Crowd density, traffic violations, suspicious objects, road damage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</a:rPr>
              <a:t>IOT &amp; SMART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0F4FF"/>
                </a:solidFill>
              </a:rPr>
              <a:t>Cameras Don't Just Watch.  They 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MQTT · Modbus · OPC-UA · Zigbee · Z-Wave · KNX · Direct Relay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920240"/>
            <a:ext cx="1783080" cy="1280160"/>
          </a:xfrm>
          <a:prstGeom prst="rect">
            <a:avLst/>
          </a:prstGeom>
          <a:solidFill>
            <a:srgbClr val="080D1C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01168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0F4FF"/>
                </a:solidFill>
              </a:rPr>
              <a:t>📷 Camera
(Any RTSP/ONVIF)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23774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▶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8568" y="1920240"/>
            <a:ext cx="1783080" cy="1280160"/>
          </a:xfrm>
          <a:prstGeom prst="rect">
            <a:avLst/>
          </a:prstGeom>
          <a:solidFill>
            <a:srgbClr val="080D1C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04288" y="201168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0F4FF"/>
                </a:solidFill>
              </a:rPr>
              <a:t>🧠 AI Detection
(Edge or Cloud)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41648" y="23774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2816" y="1920240"/>
            <a:ext cx="1783080" cy="1280160"/>
          </a:xfrm>
          <a:prstGeom prst="rect">
            <a:avLst/>
          </a:prstGeom>
          <a:solidFill>
            <a:srgbClr val="080D1C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88536" y="201168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0F4FF"/>
                </a:solidFill>
              </a:rPr>
              <a:t>⚡ Event Engine
(Rules + Context)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25896" y="23774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27064" y="1920240"/>
            <a:ext cx="1783080" cy="1280160"/>
          </a:xfrm>
          <a:prstGeom prst="rect">
            <a:avLst/>
          </a:prstGeom>
          <a:solidFill>
            <a:srgbClr val="080D1C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4" y="201168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0F4FF"/>
                </a:solidFill>
              </a:rPr>
              <a:t>📡 IoT Protocol
(MQTT/Modbus/KNX)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0144" y="23774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11312" y="1920240"/>
            <a:ext cx="1783080" cy="1280160"/>
          </a:xfrm>
          <a:prstGeom prst="rect">
            <a:avLst/>
          </a:prstGeom>
          <a:solidFill>
            <a:srgbClr val="080D1C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201168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0F4FF"/>
                </a:solidFill>
              </a:rPr>
              <a:t>🏭 Physical Action
(Lock·Light·Stop)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94392" y="23774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95560" y="1920240"/>
            <a:ext cx="1783080" cy="1280160"/>
          </a:xfrm>
          <a:prstGeom prst="rect">
            <a:avLst/>
          </a:prstGeom>
          <a:solidFill>
            <a:srgbClr val="080D1C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0" y="201168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0F4FF"/>
                </a:solidFill>
              </a:rPr>
              <a:t>📣 Multi-Alert
(AIKA·AIWA·Email)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520440"/>
            <a:ext cx="2743200" cy="2560320"/>
          </a:xfrm>
          <a:prstGeom prst="rect">
            <a:avLst/>
          </a:prstGeom>
          <a:solidFill>
            <a:srgbClr val="080D1C"/>
          </a:solidFill>
          <a:ln w="12700">
            <a:solidFill>
              <a:srgbClr val="4B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6576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4D399"/>
                </a:solidFill>
              </a:rPr>
              <a:t>40–60%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89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0F4FF"/>
                </a:solidFill>
              </a:rPr>
              <a:t>Energy Savings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B5A72"/>
                </a:solidFill>
              </a:rPr>
              <a:t>Occupancy-based lighting automation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3520440"/>
            <a:ext cx="2743200" cy="2560320"/>
          </a:xfrm>
          <a:prstGeom prst="rect">
            <a:avLst/>
          </a:prstGeom>
          <a:solidFill>
            <a:srgbClr val="080D1C"/>
          </a:solidFill>
          <a:ln w="12700">
            <a:solidFill>
              <a:srgbClr val="4B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36576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4D399"/>
                </a:solidFill>
              </a:rPr>
              <a:t>&lt;1s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389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0F4FF"/>
                </a:solidFill>
              </a:rPr>
              <a:t>Response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B5A72"/>
                </a:solidFill>
              </a:rPr>
              <a:t>Detection to physical action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520440"/>
            <a:ext cx="2743200" cy="2560320"/>
          </a:xfrm>
          <a:prstGeom prst="rect">
            <a:avLst/>
          </a:prstGeom>
          <a:solidFill>
            <a:srgbClr val="080D1C"/>
          </a:solidFill>
          <a:ln w="12700">
            <a:solidFill>
              <a:srgbClr val="4B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6576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4D399"/>
                </a:solidFill>
              </a:rPr>
              <a:t>20–30%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389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0F4FF"/>
                </a:solidFill>
              </a:rPr>
              <a:t>HVAC Reduction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B5A72"/>
                </a:solidFill>
              </a:rPr>
              <a:t>BACnet/Modbus BMS integration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35440" y="3520440"/>
            <a:ext cx="2743200" cy="2560320"/>
          </a:xfrm>
          <a:prstGeom prst="rect">
            <a:avLst/>
          </a:prstGeom>
          <a:solidFill>
            <a:srgbClr val="080D1C"/>
          </a:solidFill>
          <a:ln w="12700">
            <a:solidFill>
              <a:srgbClr val="4B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36576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4D399"/>
                </a:solidFill>
              </a:rPr>
              <a:t>500+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4389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0F4FF"/>
                </a:solidFill>
              </a:rPr>
              <a:t>Device Brands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B5A72"/>
                </a:solidFill>
              </a:rPr>
              <a:t>Philips Hue, Tuya, Hikvision, Nice, FAAC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78BFA"/>
                </a:solidFill>
              </a:rPr>
              <a:t>PRODUCTIVITY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0F4FF"/>
                </a:solidFill>
              </a:rPr>
              <a:t>Security Was Just the Beginning.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508760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Every camera you already own is generating 24 hours of business intelligence every day — unread.
We turn that raw footage into operational decisions.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286000"/>
            <a:ext cx="5029200" cy="3474720"/>
          </a:xfrm>
          <a:prstGeom prst="rect">
            <a:avLst/>
          </a:prstGeom>
          <a:solidFill>
            <a:srgbClr val="1A0808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4231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87171"/>
                </a:solidFill>
              </a:rPr>
              <a:t>Traditional CCTV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88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✗  Reviewed only after an incident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6440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✗  Operator manually watches hours of footage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3989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✗  Zero data on productivity or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21538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✗  No integration with business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69087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✗  Cost centre with no measurable ROI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3474720"/>
            <a:ext cx="1051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0F4FF"/>
                </a:solidFill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402336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B5A72"/>
                </a:solidFill>
              </a:rPr>
              <a:t>CODEOX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12280" y="2286000"/>
            <a:ext cx="5029200" cy="3474720"/>
          </a:xfrm>
          <a:prstGeom prst="rect">
            <a:avLst/>
          </a:prstGeom>
          <a:solidFill>
            <a:srgbClr val="0D081F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4231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78BFA"/>
                </a:solidFill>
              </a:rPr>
              <a:t>CodeOx Vision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788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F"/>
                </a:solidFill>
              </a:rPr>
              <a:t>✓  Live alerts — zero footage review needed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26440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F"/>
                </a:solidFill>
              </a:rPr>
              <a:t>✓  Daily automated productivity reports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73989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F"/>
                </a:solidFill>
              </a:rPr>
              <a:t>✓  Staff utilisation, queue times, throughput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21538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F"/>
                </a:solidFill>
              </a:rPr>
              <a:t>✓  Syncs directly to ERP, HR, WMS 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69087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F"/>
                </a:solidFill>
              </a:rPr>
              <a:t>✓  Measurable ROI from week 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9436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A78BFA"/>
                </a:solidFill>
              </a:rPr>
              <a:t>3–8×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6400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B5A72"/>
                </a:solidFill>
              </a:rPr>
              <a:t>ROI vs traditional CCTV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59436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A78BFA"/>
                </a:solidFill>
              </a:rPr>
              <a:t>24/7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6400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B5A72"/>
                </a:solidFill>
              </a:rPr>
              <a:t>Continuous 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59436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A78BFA"/>
                </a:solidFill>
              </a:rPr>
              <a:t>Zero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6400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B5A72"/>
                </a:solidFill>
              </a:rPr>
              <a:t>New cameras needed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78BFA"/>
                </a:solidFill>
              </a:rPr>
              <a:t>PRODUCTIVITY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F4FF"/>
                </a:solidFill>
              </a:rPr>
              <a:t>Six Analytics Domains From Your Existing Cameras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Delivered as daily reports, live dashboards, WhatsApp briefings, or direct ERP data feeds.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874519"/>
            <a:ext cx="3794760" cy="2103120"/>
          </a:xfrm>
          <a:prstGeom prst="rect">
            <a:avLst/>
          </a:prstGeom>
          <a:solidFill>
            <a:srgbClr val="080D1C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98424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4FF"/>
                </a:solidFill>
              </a:rPr>
              <a:t>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39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</a:rPr>
              <a:t>People &amp; Staff Utilisation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8891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› Staff zone presence vs shift roster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6323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› Idle time per workstation per hour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3755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› Peak staffing vs actual demand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1187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› Task time-on-station benchmarks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874519"/>
            <a:ext cx="3794760" cy="2103120"/>
          </a:xfrm>
          <a:prstGeom prst="rect">
            <a:avLst/>
          </a:prstGeom>
          <a:solidFill>
            <a:srgbClr val="080D1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198424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4FF"/>
                </a:solidFill>
              </a:rPr>
              <a:t>🗺️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377439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</a:rPr>
              <a:t>Space &amp; Occupancy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78891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› Zone occupancy by hour and 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306323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› Underutilised areas and dead zones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333755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› Traffic flow and footfall heatmaps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361187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› Meeting room / bay utilisation rates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18" y="1874519"/>
            <a:ext cx="3794760" cy="2103120"/>
          </a:xfrm>
          <a:prstGeom prst="rect">
            <a:avLst/>
          </a:prstGeom>
          <a:solidFill>
            <a:srgbClr val="080D1C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198" y="198424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4FF"/>
                </a:solidFill>
              </a:rPr>
              <a:t>⏱️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198" y="2377439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</a:rPr>
              <a:t>Queue &amp; Wait Time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198" y="278891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› Queue depth per counter per hour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198" y="306323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› Average wait time vs SLA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198" y="333755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› Auto-dispatch staff on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198" y="361187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› Abandonment rate tracking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160519"/>
            <a:ext cx="3794760" cy="2103120"/>
          </a:xfrm>
          <a:prstGeom prst="rect">
            <a:avLst/>
          </a:prstGeom>
          <a:solidFill>
            <a:srgbClr val="080D1C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27024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4FF"/>
                </a:solidFill>
              </a:rPr>
              <a:t>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663439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</a:rPr>
              <a:t>Process &amp; SOP Compliance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07491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› SOP step completion per shift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34923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› Break compliance and return-to-post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62355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› Handoff timing between teams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89787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› Training gap identification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79" y="4160519"/>
            <a:ext cx="3794760" cy="2103120"/>
          </a:xfrm>
          <a:prstGeom prst="rect">
            <a:avLst/>
          </a:prstGeom>
          <a:solidFill>
            <a:srgbClr val="080D1C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59" y="427024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4FF"/>
                </a:solidFill>
              </a:rPr>
              <a:t>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59" y="4663439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87171"/>
                </a:solidFill>
              </a:rPr>
              <a:t>Throughput &amp; Output Rates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59" y="507491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› Pick/pack rate per operator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59" y="534923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› Table or bay turnovers per hour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59" y="562355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› Vehicle loading/unloading duration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59" y="589787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› Production line speed benchmarks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75318" y="4160519"/>
            <a:ext cx="3794760" cy="2103120"/>
          </a:xfrm>
          <a:prstGeom prst="rect">
            <a:avLst/>
          </a:prstGeom>
          <a:solidFill>
            <a:srgbClr val="080D1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58198" y="427024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4FF"/>
                </a:solidFill>
              </a:rPr>
              <a:t>⚙️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198" y="4663439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</a:rPr>
              <a:t>Asset &amp; Equipment Utilisation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198" y="507491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› Machine uptime vs idle downtime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198" y="534923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› Vehicle dwell and bay occupancy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198" y="562355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› Forklift route efficiency scoring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198" y="589787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› Preventive maintenance triggers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</a:rPr>
              <a:t>F&amp;B &amp; RESTAURANT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4FF"/>
                </a:solidFill>
              </a:rPr>
              <a:t>Every Camera in Your Restaurant Is an Operations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Used by leading QSR, casual dining, and café brands across the GCC to cut wait times, improve kitchen flow, and increase table turnover.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965960"/>
            <a:ext cx="3749039" cy="1188720"/>
          </a:xfrm>
          <a:prstGeom prst="rect">
            <a:avLst/>
          </a:prstGeom>
          <a:solidFill>
            <a:srgbClr val="080D1C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1168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BBF24"/>
                </a:solidFill>
              </a:rPr>
              <a:t>25%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70048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B5A72"/>
                </a:solidFill>
              </a:rPr>
              <a:t>Operational Efficiency Gain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44368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B5A72"/>
                </a:solidFill>
              </a:rPr>
              <a:t>Average across deployed sites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965960"/>
            <a:ext cx="3749039" cy="1188720"/>
          </a:xfrm>
          <a:prstGeom prst="rect">
            <a:avLst/>
          </a:prstGeom>
          <a:solidFill>
            <a:srgbClr val="080D1C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201168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4D399"/>
                </a:solidFill>
              </a:rPr>
              <a:t>15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670048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B5A72"/>
                </a:solidFill>
              </a:rPr>
              <a:t>Faster Customer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944368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B5A72"/>
                </a:solidFill>
              </a:rPr>
              <a:t>Reduction in average wait 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965960"/>
            <a:ext cx="3749039" cy="1188720"/>
          </a:xfrm>
          <a:prstGeom prst="rect">
            <a:avLst/>
          </a:prstGeom>
          <a:solidFill>
            <a:srgbClr val="080D1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01168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8BDF8"/>
                </a:solidFill>
              </a:rPr>
              <a:t>98%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670048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B5A72"/>
                </a:solidFill>
              </a:rPr>
              <a:t>Customer Satisfaction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944368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B5A72"/>
                </a:solidFill>
              </a:rPr>
              <a:t>With AI-optimised service 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337560"/>
            <a:ext cx="2834640" cy="3017520"/>
          </a:xfrm>
          <a:prstGeom prst="rect">
            <a:avLst/>
          </a:prstGeom>
          <a:solidFill>
            <a:srgbClr val="080D1C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4290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4FF"/>
                </a:solidFill>
              </a:rPr>
              <a:t>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886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4FF"/>
                </a:solidFill>
              </a:rPr>
              <a:t>Queue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25196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Real-time queue depth at every counter and drive-through lane. Auto-pages backup staff the moment wait exceeds your target.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0128" y="3337560"/>
            <a:ext cx="2834640" cy="3017520"/>
          </a:xfrm>
          <a:prstGeom prst="rect">
            <a:avLst/>
          </a:prstGeom>
          <a:solidFill>
            <a:srgbClr val="080D1C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93008" y="34290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4FF"/>
                </a:solidFill>
              </a:rPr>
              <a:t>👨‍🍳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3008" y="3886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4FF"/>
                </a:solidFill>
              </a:rPr>
              <a:t>Kitchen 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425196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Prep time per station, order-to-serve duration, bottleneck detection. Know which station is slowing the kitchen.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0216" y="3337560"/>
            <a:ext cx="2834640" cy="3017520"/>
          </a:xfrm>
          <a:prstGeom prst="rect">
            <a:avLst/>
          </a:prstGeom>
          <a:solidFill>
            <a:srgbClr val="080D1C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3096" y="34290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4FF"/>
                </a:solidFill>
              </a:rPr>
              <a:t>🍽️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3096" y="3886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4FF"/>
                </a:solidFill>
              </a:rPr>
              <a:t>Dining Area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3096" y="425196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Seating patterns, table turnover rates, peak-hour occupancy by zone. Optimise layout, staffing, and reservation policy.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90304" y="3337560"/>
            <a:ext cx="2834640" cy="3017520"/>
          </a:xfrm>
          <a:prstGeom prst="rect">
            <a:avLst/>
          </a:prstGeom>
          <a:solidFill>
            <a:srgbClr val="080D1C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73184" y="34290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4FF"/>
                </a:solidFill>
              </a:rPr>
              <a:t>🖥️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3184" y="3886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4FF"/>
                </a:solidFill>
              </a:rPr>
              <a:t>POS &amp; System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73184" y="425196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Camera data cross-matched with POS order volumes, chiller/freezer IoT sensors, and delivery platform APIs.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5A72"/>
                </a:solidFill>
              </a:rPr>
              <a:t>Trusted by:  Jan Burger  ·  Pizzaratti  ·  Tameesa  ·  and leading QSR brands across KSA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78BFA"/>
                </a:solidFill>
              </a:rPr>
              <a:t>CUSTOM AI MODEL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0F4FF"/>
                </a:solidFill>
              </a:rPr>
              <a:t>Trained on Your Footage.  20–40% Better Accuracy.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You own every model and every annotated frame. Zero vendor lock-in.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920240"/>
            <a:ext cx="2240280" cy="2560320"/>
          </a:xfrm>
          <a:prstGeom prst="rect">
            <a:avLst/>
          </a:prstGeom>
          <a:solidFill>
            <a:srgbClr val="080D1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96596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8BDF8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51460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4FF"/>
                </a:solidFill>
              </a:rPr>
              <a:t>Discovery &amp; 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926080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Site visit, footage audit, edge cases and success metrics defined with client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679192" y="1920240"/>
            <a:ext cx="2240280" cy="2560320"/>
          </a:xfrm>
          <a:prstGeom prst="rect">
            <a:avLst/>
          </a:prstGeom>
          <a:solidFill>
            <a:srgbClr val="080D1C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9192" y="196596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A78BFA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0632" y="251460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4FF"/>
                </a:solidFill>
              </a:rPr>
              <a:t>Dataset &amp; Labeling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0632" y="2926080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200–2,000 frames from your cameras. Annotated in Roboflow or Label Studio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38344" y="1920240"/>
            <a:ext cx="2240280" cy="2560320"/>
          </a:xfrm>
          <a:prstGeom prst="rect">
            <a:avLst/>
          </a:prstGeom>
          <a:solidFill>
            <a:srgbClr val="080D1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38344" y="196596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7C3AED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4" y="251460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4FF"/>
                </a:solidFill>
              </a:rPr>
              <a:t>Train &amp; Iterate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9784" y="2926080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Fine-tune YOLOv11 or RT-DETR. 2–3 cycles with client sign-off each stage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97496" y="1920240"/>
            <a:ext cx="2240280" cy="2560320"/>
          </a:xfrm>
          <a:prstGeom prst="rect">
            <a:avLst/>
          </a:prstGeom>
          <a:solidFill>
            <a:srgbClr val="080D1C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97496" y="196596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A78BFA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936" y="251460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4FF"/>
                </a:solidFill>
              </a:rPr>
              <a:t>Shadow Deploy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88936" y="2926080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48–72 hrs running silently in live environment. Measure real-world precision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56648" y="1920240"/>
            <a:ext cx="2240280" cy="2560320"/>
          </a:xfrm>
          <a:prstGeom prst="rect">
            <a:avLst/>
          </a:prstGeom>
          <a:solidFill>
            <a:srgbClr val="080D1C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56648" y="196596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4D399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48088" y="251460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0F4FF"/>
                </a:solidFill>
              </a:rPr>
              <a:t>Go 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48088" y="2926080"/>
            <a:ext cx="2057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Alerts live. Every false positive becomes a training example. Monthly retraining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663440"/>
            <a:ext cx="2240280" cy="1920240"/>
          </a:xfrm>
          <a:prstGeom prst="rect">
            <a:avLst/>
          </a:prstGeom>
          <a:solidFill>
            <a:srgbClr val="080D1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75488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4FF"/>
                </a:solidFill>
              </a:rPr>
              <a:t>🔍 Product Defect 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5166360"/>
            <a:ext cx="2057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Scratch, dent, missing label — trained on your product, your line, your standard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79192" y="4663440"/>
            <a:ext cx="2240280" cy="1920240"/>
          </a:xfrm>
          <a:prstGeom prst="rect">
            <a:avLst/>
          </a:prstGeom>
          <a:solidFill>
            <a:srgbClr val="080D1C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70632" y="475488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4FF"/>
                </a:solidFill>
              </a:rPr>
              <a:t>🦺 Brand PPE &amp; Uniform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70632" y="5166360"/>
            <a:ext cx="2057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Your company's specific colours and logo — not generic 'vest detected'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38344" y="4663440"/>
            <a:ext cx="2240280" cy="1920240"/>
          </a:xfrm>
          <a:prstGeom prst="rect">
            <a:avLst/>
          </a:prstGeom>
          <a:solidFill>
            <a:srgbClr val="080D1C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9784" y="475488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4FF"/>
                </a:solidFill>
              </a:rPr>
              <a:t>🔢 Regional LPR Models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9784" y="5166360"/>
            <a:ext cx="2057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GCC, India (all states), EU — better than commercial APIs on local fonts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97496" y="4663440"/>
            <a:ext cx="2240280" cy="1920240"/>
          </a:xfrm>
          <a:prstGeom prst="rect">
            <a:avLst/>
          </a:prstGeom>
          <a:solidFill>
            <a:srgbClr val="080D1C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88936" y="475488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4FF"/>
                </a:solidFill>
              </a:rPr>
              <a:t>🕌 Cultural Context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8936" y="5166360"/>
            <a:ext cx="2057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Abaya, Thobe, Kandora as valid PPE — built for GCC, not adapted from Western data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56648" y="4663440"/>
            <a:ext cx="2240280" cy="1920240"/>
          </a:xfrm>
          <a:prstGeom prst="rect">
            <a:avLst/>
          </a:prstGeom>
          <a:solidFill>
            <a:srgbClr val="080D1C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48088" y="475488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4FF"/>
                </a:solidFill>
              </a:rPr>
              <a:t>📋 SOP Compliance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48088" y="5166360"/>
            <a:ext cx="2057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Your exact procedure as a visual checklist — every step, every shift, audited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78BFA"/>
                </a:solidFill>
              </a:rPr>
              <a:t>WHY CODEOX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0F4FF"/>
                </a:solidFill>
              </a:rPr>
              <a:t>Six Differentiators No Regional Competitor Matches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600200"/>
            <a:ext cx="3794760" cy="2011680"/>
          </a:xfrm>
          <a:prstGeom prst="rect">
            <a:avLst/>
          </a:prstGeom>
          <a:solidFill>
            <a:srgbClr val="02040F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4FF"/>
                </a:solidFill>
              </a:rPr>
              <a:t>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945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4FF"/>
                </a:solidFill>
              </a:rPr>
              <a:t>Full Sensory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0604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Vision + Voice + Chat + Image Enhancement + Knowledge — integrated, not stitched. Unique in the GCC.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79" y="1600200"/>
            <a:ext cx="3794760" cy="2011680"/>
          </a:xfrm>
          <a:prstGeom prst="rect">
            <a:avLst/>
          </a:prstGeom>
          <a:solidFill>
            <a:srgbClr val="02040F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7373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4FF"/>
                </a:solidFill>
              </a:rPr>
              <a:t>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1945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4FF"/>
                </a:solidFill>
              </a:rPr>
              <a:t>No Hardware Replacement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60604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Hikvision, Dahua, Axis, Bosch — works with every RTSP/ONVIF camera you already own.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18" y="1600200"/>
            <a:ext cx="3794760" cy="2011680"/>
          </a:xfrm>
          <a:prstGeom prst="rect">
            <a:avLst/>
          </a:prstGeom>
          <a:solidFill>
            <a:srgbClr val="02040F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198" y="17373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4FF"/>
                </a:solidFill>
              </a:rPr>
              <a:t>🏛️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198" y="21945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4FF"/>
                </a:solidFill>
              </a:rPr>
              <a:t>Local Hosting &amp; Compliance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198" y="260604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UAE, KSA, India. PDPL, NCA, GDPR day one. Full on-prem for government and Aramco-tier.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886200"/>
            <a:ext cx="3794760" cy="2011680"/>
          </a:xfrm>
          <a:prstGeom prst="rect">
            <a:avLst/>
          </a:prstGeom>
          <a:solidFill>
            <a:srgbClr val="02040F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0233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4FF"/>
                </a:solidFill>
              </a:rPr>
              <a:t>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805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4FF"/>
                </a:solidFill>
              </a:rPr>
              <a:t>Arabic &amp; English Native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9204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Arabic, Malayalam, Hindi, Tamil, English in alerts, voice, chat, and dashboard from day one.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79" y="3886200"/>
            <a:ext cx="3794760" cy="2011680"/>
          </a:xfrm>
          <a:prstGeom prst="rect">
            <a:avLst/>
          </a:prstGeom>
          <a:solidFill>
            <a:srgbClr val="02040F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59" y="40233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4FF"/>
                </a:solidFill>
              </a:rPr>
              <a:t>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44805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4FF"/>
                </a:solidFill>
              </a:rPr>
              <a:t>Custom-Built 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489204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Trained on your cameras, your environment, your problems. 20–40% better than generic APIs.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75318" y="3886200"/>
            <a:ext cx="3794760" cy="2011680"/>
          </a:xfrm>
          <a:prstGeom prst="rect">
            <a:avLst/>
          </a:prstGeom>
          <a:solidFill>
            <a:srgbClr val="02040F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198" y="40233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4FF"/>
                </a:solidFill>
              </a:rPr>
              <a:t>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198" y="44805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4FF"/>
                </a:solidFill>
              </a:rPr>
              <a:t>IoT-Integrated Automation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198" y="489204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Detections trigger lights, locks, gates, alarms, HVAC, PA, and PLC stop signals automatically.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8BDF8"/>
                </a:solidFill>
              </a:rPr>
              <a:t>TECHNOLOGY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0F4FF"/>
                </a:solidFill>
              </a:rPr>
              <a:t>Best-in-Class Stack, Purpose-Built for Vision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45920"/>
            <a:ext cx="11457432" cy="713232"/>
          </a:xfrm>
          <a:prstGeom prst="rect">
            <a:avLst/>
          </a:prstGeom>
          <a:solidFill>
            <a:srgbClr val="080D1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470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</a:rPr>
              <a:t>🧠 Detection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847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YOLOv11   ·   RT-DETR   ·   SAM 2   ·   MediaPipe Pose   ·   Custom-Trained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450592"/>
            <a:ext cx="11457432" cy="713232"/>
          </a:xfrm>
          <a:prstGeom prst="rect">
            <a:avLst/>
          </a:prstGeom>
          <a:solidFill>
            <a:srgbClr val="080D1C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651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</a:rPr>
              <a:t>💬 Vision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6517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Gemini 2.5 Pro   ·   GPT-4 Vision   ·   Claude Vision   ·   Qwen-VL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55264"/>
            <a:ext cx="11457432" cy="713232"/>
          </a:xfrm>
          <a:prstGeom prst="rect">
            <a:avLst/>
          </a:prstGeom>
          <a:solidFill>
            <a:srgbClr val="080D1C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4564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</a:rPr>
              <a:t>⚡ Edge Inference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45643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Jetson Orin   ·   Hailo-8   ·   Google Coral   ·   RK3588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059936"/>
            <a:ext cx="11457432" cy="713232"/>
          </a:xfrm>
          <a:prstGeom prst="rect">
            <a:avLst/>
          </a:prstGeom>
          <a:solidFill>
            <a:srgbClr val="080D1C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26110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</a:rPr>
              <a:t>🎬 Video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261104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Frigate NVR   ·   DeepStream   ·   ffmpeg   ·   GStreamer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864608"/>
            <a:ext cx="11457432" cy="713232"/>
          </a:xfrm>
          <a:prstGeom prst="rect">
            <a:avLst/>
          </a:prstGeom>
          <a:solidFill>
            <a:srgbClr val="080D1C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87171"/>
                </a:solidFill>
              </a:rPr>
              <a:t>💾 Storage &amp;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5065776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S3-compatible   ·   Qdrant Vector DB   ·   ClickHouse   ·   Vector Captions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669280"/>
            <a:ext cx="11457432" cy="713232"/>
          </a:xfrm>
          <a:prstGeom prst="rect">
            <a:avLst/>
          </a:prstGeom>
          <a:solidFill>
            <a:srgbClr val="080D1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8704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</a:rPr>
              <a:t>☁️ Cloud &amp; 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87044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AWS / Azure / GCP   ·   Oracle Cloud   ·   Roboflow   ·   Ultralytics HUB   ·   SageMaker   ·   Vertex AI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8BDF8"/>
                </a:solidFill>
              </a:rPr>
              <a:t>DEPLOYMENT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4FF"/>
                </a:solidFill>
              </a:rPr>
              <a:t>Three Tiers.  One Platform.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45920"/>
            <a:ext cx="3749039" cy="4846320"/>
          </a:xfrm>
          <a:prstGeom prst="rect">
            <a:avLst/>
          </a:prstGeom>
          <a:solidFill>
            <a:srgbClr val="02040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8BDF8"/>
                </a:solidFill>
              </a:rPr>
              <a:t>Tier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0F4FF"/>
                </a:solidFill>
              </a:rPr>
              <a:t>☁️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4FF"/>
                </a:solidFill>
              </a:rPr>
              <a:t>Pure 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6324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RTSP relay to AWS or Azure. Fastest to deploy — pilots live within days.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4903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• Deploy in days, not weeks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151375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• Zero on-site hardware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553711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• UAE, KSA, India regions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56047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• Auto-scaling on event volume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645920"/>
            <a:ext cx="3749039" cy="4846320"/>
          </a:xfrm>
          <a:prstGeom prst="rect">
            <a:avLst/>
          </a:prstGeom>
          <a:solidFill>
            <a:srgbClr val="02040F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7373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78BFA"/>
                </a:solidFill>
              </a:rPr>
              <a:t>Tier 2 — Most Popular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0F4FF"/>
                </a:solidFill>
              </a:rPr>
              <a:t>🖥️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560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4FF"/>
                </a:solidFill>
              </a:rPr>
              <a:t>Hybrid 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06324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On-site Jetson or mini-PC runs AI. Only event metadata syncs to cloud. PDPL-friendly.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74903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• Jetson Orin or Hailo-8 on-site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151375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• Raw footage never leaves network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553711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• Works on &lt;1 Mbps uplink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956047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• PDPL and NCA compliant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645920"/>
            <a:ext cx="3749039" cy="4846320"/>
          </a:xfrm>
          <a:prstGeom prst="rect">
            <a:avLst/>
          </a:prstGeom>
          <a:solidFill>
            <a:srgbClr val="02040F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17373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</a:rPr>
              <a:t>Tier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0F4FF"/>
                </a:solidFill>
              </a:rPr>
              <a:t>🏛️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560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4FF"/>
                </a:solidFill>
              </a:rPr>
              <a:t>Full On-Premises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06324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Dedicated GPU server, air-gapped or VPN-only. Government and Aramco-grade.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74903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• Dedicated GPU server on-site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151375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• Air-gapped or VPN-only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553711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• Government &amp; NCA grade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956047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• No cloud dependency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</a:rPr>
              <a:t>INTEGRATIONS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0F4FF"/>
                </a:solidFill>
              </a:rPr>
              <a:t>Plugs Into Your Existing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REST, GraphQL, Webhooks, MQTT, Modbus — any protocol, any 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874519"/>
            <a:ext cx="2834640" cy="1965960"/>
          </a:xfrm>
          <a:prstGeom prst="rect">
            <a:avLst/>
          </a:prstGeom>
          <a:solidFill>
            <a:srgbClr val="080D1C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20116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4FF"/>
                </a:solidFill>
              </a:rPr>
              <a:t>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246887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4FF"/>
                </a:solidFill>
              </a:rPr>
              <a:t>ERP &amp;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2880359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SAP · Oracle · Dynamics · Odoo · Zoho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1874519"/>
            <a:ext cx="2834640" cy="1965960"/>
          </a:xfrm>
          <a:prstGeom prst="rect">
            <a:avLst/>
          </a:prstGeom>
          <a:solidFill>
            <a:srgbClr val="080D1C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0116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4FF"/>
                </a:solidFill>
              </a:rPr>
              <a:t>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46887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4FF"/>
                </a:solidFill>
              </a:rPr>
              <a:t>WMS &amp; Fulfilment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880359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SAP EWM · Oracle WMS · Infor · Fishbowl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216" y="1874519"/>
            <a:ext cx="2834640" cy="1965960"/>
          </a:xfrm>
          <a:prstGeom prst="rect">
            <a:avLst/>
          </a:prstGeom>
          <a:solidFill>
            <a:srgbClr val="080D1C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0116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4FF"/>
                </a:solidFill>
              </a:rPr>
              <a:t>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46887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4FF"/>
                </a:solidFill>
              </a:rPr>
              <a:t>HR &amp; Workforce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2880359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SAP HR · Oracle HCM · ADP · Bayzat · Darwinbox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90304" y="1874519"/>
            <a:ext cx="2834640" cy="1965960"/>
          </a:xfrm>
          <a:prstGeom prst="rect">
            <a:avLst/>
          </a:prstGeom>
          <a:solidFill>
            <a:srgbClr val="080D1C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54896" y="20116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4FF"/>
                </a:solidFill>
              </a:rPr>
              <a:t>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54896" y="246887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4FF"/>
                </a:solidFill>
              </a:rPr>
              <a:t>Access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54896" y="2880359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ZKTeco · HID · Suprema · Hikvision · RFID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114799"/>
            <a:ext cx="2834640" cy="1965960"/>
          </a:xfrm>
          <a:prstGeom prst="rect">
            <a:avLst/>
          </a:prstGeom>
          <a:solidFill>
            <a:srgbClr val="080D1C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" y="425195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4FF"/>
                </a:solidFill>
              </a:rPr>
              <a:t>⚙️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" y="470915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4FF"/>
                </a:solidFill>
              </a:rPr>
              <a:t>Industrial &amp; SCADA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5120639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Modbus · OPC-UA · Profinet · MQTT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10128" y="4114799"/>
            <a:ext cx="2834640" cy="1965960"/>
          </a:xfrm>
          <a:prstGeom prst="rect">
            <a:avLst/>
          </a:prstGeom>
          <a:solidFill>
            <a:srgbClr val="080D1C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425195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4FF"/>
                </a:solidFill>
              </a:rPr>
              <a:t>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70915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4FF"/>
                </a:solidFill>
              </a:rPr>
              <a:t>IoT &amp; Smart Building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5120639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KNX · BACnet · Zigbee · Z-Wave · LoRaWAN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0216" y="4114799"/>
            <a:ext cx="2834640" cy="1965960"/>
          </a:xfrm>
          <a:prstGeom prst="rect">
            <a:avLst/>
          </a:prstGeom>
          <a:solidFill>
            <a:srgbClr val="080D1C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8" y="425195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4FF"/>
                </a:solidFill>
              </a:rPr>
              <a:t>🏛️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8" y="470915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4FF"/>
                </a:solidFill>
              </a:rPr>
              <a:t>Government APIs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8" y="5120639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MOI · SADAD · Absher · Elm · UAE ICP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90304" y="4114799"/>
            <a:ext cx="2834640" cy="1965960"/>
          </a:xfrm>
          <a:prstGeom prst="rect">
            <a:avLst/>
          </a:prstGeom>
          <a:solidFill>
            <a:srgbClr val="080D1C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54896" y="425195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0F4FF"/>
                </a:solidFill>
              </a:rPr>
              <a:t>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54896" y="470915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4FF"/>
                </a:solidFill>
              </a:rPr>
              <a:t>POS &amp; F&amp;B Systems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54896" y="5120639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Oracle MICROS · NCR · Lightspeed · Square · Toast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87171"/>
                </a:solidFill>
              </a:rPr>
              <a:t>ACCESS CONTROL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4FF"/>
                </a:solidFill>
              </a:rPr>
              <a:t>Real-Time Response the Moment Unauthorized Access Occurs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Virtual fences, dual-person rules, tailgating prevention — automated and audited.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920240"/>
            <a:ext cx="3794760" cy="2011680"/>
          </a:xfrm>
          <a:prstGeom prst="rect">
            <a:avLst/>
          </a:prstGeom>
          <a:solidFill>
            <a:srgbClr val="02040F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4FF"/>
                </a:solidFill>
              </a:rPr>
              <a:t>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14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4FF"/>
                </a:solidFill>
              </a:rPr>
              <a:t>Restricted Area Alerts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Virtual fences around vaults, server rooms, tank farms. Instant multi-channel alert. Optional auto-lockdown via IoT.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1920240"/>
            <a:ext cx="3794760" cy="2011680"/>
          </a:xfrm>
          <a:prstGeom prst="rect">
            <a:avLst/>
          </a:prstGeom>
          <a:solidFill>
            <a:srgbClr val="02040F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20574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4FF"/>
                </a:solidFill>
              </a:rPr>
              <a:t>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514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4FF"/>
                </a:solidFill>
              </a:rPr>
              <a:t>Dual-Person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92608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Vaults, pharmacies, narcotics — access only when two authorized staff are face-confirmed present. AIKA on violation.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18" y="1920240"/>
            <a:ext cx="3794760" cy="2011680"/>
          </a:xfrm>
          <a:prstGeom prst="rect">
            <a:avLst/>
          </a:prstGeom>
          <a:solidFill>
            <a:srgbClr val="02040F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198" y="20574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4FF"/>
                </a:solidFill>
              </a:rPr>
              <a:t>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198" y="2514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4FF"/>
                </a:solidFill>
              </a:rPr>
              <a:t>Tailgating Prevention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198" y="292608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Second person entering on someone else's credential detected. Optional mid-entry IoT lockdown.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206240"/>
            <a:ext cx="3794760" cy="2011680"/>
          </a:xfrm>
          <a:prstGeom prst="rect">
            <a:avLst/>
          </a:prstGeom>
          <a:solidFill>
            <a:srgbClr val="02040F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3434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4FF"/>
                </a:solidFill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00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4FF"/>
                </a:solidFill>
              </a:rPr>
              <a:t>Visitor Pre-Approval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21208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Face + LPR + WhatsApp approval from host before access. AIKA calls host if no reply in 60 seconds. Full audit.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79" y="4206240"/>
            <a:ext cx="3794760" cy="2011680"/>
          </a:xfrm>
          <a:prstGeom prst="rect">
            <a:avLst/>
          </a:prstGeom>
          <a:solidFill>
            <a:srgbClr val="02040F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43434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4FF"/>
                </a:solidFill>
              </a:rPr>
              <a:t>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4800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4FF"/>
                </a:solidFill>
              </a:rPr>
              <a:t>After-Hours Auto-Lockdown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521208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Any movement outside working hours triggers alarm, IoT lockdown, and on-call escalation automatically.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18" y="4206240"/>
            <a:ext cx="3794760" cy="2011680"/>
          </a:xfrm>
          <a:prstGeom prst="rect">
            <a:avLst/>
          </a:prstGeom>
          <a:solidFill>
            <a:srgbClr val="02040F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198" y="43434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4FF"/>
                </a:solidFill>
              </a:rPr>
              <a:t>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198" y="4800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F4FF"/>
                </a:solidFill>
              </a:rPr>
              <a:t>Multi-Factor Visual Access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198" y="521208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Face + badge + PIN. Prevents badge sharing. Integrates ZKTeco, HID, Suprema panels.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28016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0F4FF"/>
                </a:solidFill>
              </a:rPr>
              <a:t>Ready to Deploy?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10312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38BDF8"/>
                </a:solidFill>
              </a:rPr>
              <a:t>Let's Start with a Pilot.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017520"/>
            <a:ext cx="85313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Every client starts with a scoped pilot — 4–8 cameras, one use case,
measurable outcome in 2 weeks. No commitment until you see it work on your cameras.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605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📧  shabeeb.k@code-ox.com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41605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📞  +966 535 716 437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1206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EA5E9"/>
                </a:solidFill>
              </a:rPr>
              <a:t>code-ox.com   ·   UAE · KSA · India   ·   PDPL · NCA · GDPR Ready   ·   Pilot in 2 Weeks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