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4389120"/>
            <a:ext cx="3200400" cy="3200400"/>
          </a:xfrm>
          <a:prstGeom prst="rect">
            <a:avLst/>
          </a:prstGeom>
          <a:solidFill>
            <a:srgbClr val="0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0" y="0"/>
            <a:ext cx="70683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097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E7696"/>
                </a:solidFill>
                <a:latin typeface="Calibri"/>
              </a:rPr>
              <a:t>COX-MSA-VTL-2026-001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04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A8FAE"/>
                </a:solidFill>
                <a:latin typeface="Calibri"/>
              </a:rPr>
              <a:t>PROJECT KICKOFF  · 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AIWA × AIKA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08483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8C4DF"/>
                </a:solidFill>
                <a:latin typeface="Georgia"/>
              </a:rPr>
              <a:t>Production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43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AC8"/>
                </a:solidFill>
                <a:latin typeface="Calibri"/>
              </a:rPr>
              <a:t>AI-powered patient engagement for Vitality Home Health Services —
WhatsApp AI Agent, Voice AI Receptionist &amp; Unified Dashboard.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66160"/>
            <a:ext cx="1645920" cy="15240"/>
          </a:xfrm>
          <a:prstGeom prst="rect">
            <a:avLst/>
          </a:prstGeom>
          <a:solidFill>
            <a:srgbClr val="1A4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73075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AA"/>
                </a:solidFill>
                <a:latin typeface="Calibri"/>
              </a:rPr>
              <a:t>Prepared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05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EEE"/>
                </a:solidFill>
                <a:latin typeface="Calibri"/>
              </a:rPr>
              <a:t>shabeeb.k@code-ox.com  ·  +966 53 571 6437  ·  code-ox.com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74980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PROJECT AT A GLANCE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1536" y="749808"/>
            <a:ext cx="45720" cy="201168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76672" y="1024128"/>
            <a:ext cx="658368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76672" y="1024128"/>
            <a:ext cx="64008" cy="107899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078992"/>
            <a:ext cx="6309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316736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Calibri"/>
              </a:rPr>
              <a:t>Vitality Home Health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1664208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Riyadh, Kingdom of Saudi Arabia  ·  ڤيتالتي للخدمات الطبية والتجميلية المنزلية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76672" y="2231136"/>
            <a:ext cx="2121408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3832" y="2304288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E7696"/>
                </a:solidFill>
                <a:latin typeface="Calibri"/>
              </a:rPr>
              <a:t>ENGAGEMENT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2" y="2542032"/>
            <a:ext cx="1938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SaaS Platform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2231136"/>
            <a:ext cx="2121408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304288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E7696"/>
                </a:solidFill>
                <a:latin typeface="Calibri"/>
              </a:rPr>
              <a:t>TARGET GO-LIVE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542032"/>
            <a:ext cx="1938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8FAE"/>
                </a:solidFill>
                <a:latin typeface="Calibri"/>
              </a:rPr>
              <a:t>8 Weeks from Today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10928" y="2231136"/>
            <a:ext cx="2121408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48088" y="2304288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E7696"/>
                </a:solidFill>
                <a:latin typeface="Calibri"/>
              </a:rPr>
              <a:t>CONTRACT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542032"/>
            <a:ext cx="1938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Annual Plan · MSA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76672" y="3328416"/>
            <a:ext cx="658368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3401568"/>
            <a:ext cx="1609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C2340"/>
                </a:solidFill>
                <a:latin typeface="Georgia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8770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E7696"/>
                </a:solidFill>
                <a:latin typeface="Calibri"/>
              </a:rPr>
              <a:t>Core Modules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86016" y="3456432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04304" y="3401568"/>
            <a:ext cx="1609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A8FAE"/>
                </a:solidFill>
                <a:latin typeface="Georgia"/>
              </a:rPr>
              <a:t>8 wks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8770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E7696"/>
                </a:solidFill>
                <a:latin typeface="Calibri"/>
              </a:rPr>
              <a:t>to Go-Live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3456432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3401568"/>
            <a:ext cx="1609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C2340"/>
                </a:solidFill>
                <a:latin typeface="Georgia"/>
              </a:rPr>
              <a:t>24/7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3648" y="38770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E7696"/>
                </a:solidFill>
                <a:latin typeface="Calibri"/>
              </a:rPr>
              <a:t>AI Coverage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04704" y="3456432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22992" y="3401568"/>
            <a:ext cx="1609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C2340"/>
                </a:solidFill>
                <a:latin typeface="Georgia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2992" y="38770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E7696"/>
                </a:solidFill>
                <a:latin typeface="Calibri"/>
              </a:rPr>
              <a:t>Languages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76672" y="4535424"/>
            <a:ext cx="6583680" cy="438912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3832" y="4608576"/>
            <a:ext cx="6355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Reference: COX-MSA-VTL-2026-001  ·  Annual Platform Fee SAR 63,000/year  ·  Governed by Master Services Agreement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76672" y="5120640"/>
            <a:ext cx="6583680" cy="1016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68112" y="5212080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7696"/>
                </a:solidFill>
                <a:latin typeface="Calibri"/>
              </a:rPr>
              <a:t>Vitality Home Health Services  ·  Confidential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TODAY'S 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KICKOFF SESSION ·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What We'll Cover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6642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Project Vision &amp;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9751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The problem, solution &amp; expected outcomes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5727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572768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642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8FAE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Platform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19751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AIWA, AIKA &amp; Unified Dashboard deep dive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871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487168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786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Technical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8895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Integration map &amp; technology stack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24871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2487168"/>
            <a:ext cx="64008" cy="804672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5786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7708"/>
                </a:solidFill>
                <a:latin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8-Week Delivery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28895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Phases, milestones &amp; critical dependencies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015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401568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493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Georgia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Team &amp;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38039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Contacts &amp; communication cadence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34015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44768" y="3401568"/>
            <a:ext cx="64008" cy="804672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493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7552"/>
                </a:solidFill>
                <a:latin typeface="Georgia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Open Questions &amp; Next Steps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38039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Discussion, action items &amp; owners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401568"/>
            <a:ext cx="11274552" cy="914400"/>
          </a:xfrm>
          <a:prstGeom prst="rect">
            <a:avLst/>
          </a:prstGeom>
          <a:solidFill>
            <a:srgbClr val="FCE9E7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401568"/>
            <a:ext cx="64008" cy="914400"/>
          </a:xfrm>
          <a:prstGeom prst="rect">
            <a:avLst/>
          </a:prstGeom>
          <a:solidFill>
            <a:srgbClr val="BB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5112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B3528"/>
                </a:solidFill>
                <a:latin typeface="Georgia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349300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Calibri"/>
              </a:rPr>
              <a:t>Requirements from Vitality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385876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SIP trunk  ·  Nixpend HMS  ·  WhatsApp  ·  SMS  ·  Payment Gateway  ·  Master Data  ·  Branding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3749040"/>
            <a:ext cx="1389888" cy="228600"/>
          </a:xfrm>
          <a:prstGeom prst="rect">
            <a:avLst/>
          </a:prstGeom>
          <a:solidFill>
            <a:srgbClr val="FCE9E7"/>
          </a:solidFill>
          <a:ln w="635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0" y="376174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CRITICAL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PROJECT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THE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Transforming Home Healthcare in Saudi Arabia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Patients deserve seamless 24/7 access. Coordinators deserve fewer missed calls and manual tasks. Vitality deserves to scale without adding headcount.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3703320" cy="1719072"/>
          </a:xfrm>
          <a:prstGeom prst="rect">
            <a:avLst/>
          </a:prstGeom>
          <a:solidFill>
            <a:srgbClr val="FCE9E7"/>
          </a:solidFill>
          <a:ln w="1524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3703320" cy="73152"/>
          </a:xfrm>
          <a:prstGeom prst="rect">
            <a:avLst/>
          </a:prstGeom>
          <a:solidFill>
            <a:srgbClr val="BB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84831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B3528"/>
                </a:solidFill>
                <a:latin typeface="Georgia"/>
              </a:rPr>
              <a:t>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Missed calls after hours, manual booking friction, and no Arabic-first digital channel for home care patients in Riyadh.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1920240"/>
            <a:ext cx="3703320" cy="1719072"/>
          </a:xfrm>
          <a:prstGeom prst="rect">
            <a:avLst/>
          </a:prstGeom>
          <a:solidFill>
            <a:srgbClr val="E2F4F8"/>
          </a:solidFill>
          <a:ln w="1524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1920240"/>
            <a:ext cx="3703320" cy="731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2084831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8FAE"/>
                </a:solidFill>
                <a:latin typeface="Georgia"/>
              </a:rP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505456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24/7 AI agents on WhatsApp &amp; voice — bilingual Najdi Arabic/English, fully integrated with Nixpend HMS.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1920240"/>
            <a:ext cx="3703320" cy="1719072"/>
          </a:xfrm>
          <a:prstGeom prst="rect">
            <a:avLst/>
          </a:prstGeom>
          <a:solidFill>
            <a:srgbClr val="E4F5EE"/>
          </a:solidFill>
          <a:ln w="1524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2" y="1920240"/>
            <a:ext cx="3703320" cy="73152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2084831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7552"/>
                </a:solidFill>
                <a:latin typeface="Georgia"/>
              </a:rPr>
              <a:t>The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505456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More confirmed bookings, zero missed after-hours calls, reduced coordinator workload, happier patients.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74552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770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C2340"/>
                </a:solidFill>
                <a:latin typeface="Georgia"/>
              </a:rPr>
              <a:t>24/7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708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Patient Availability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99232" y="3931920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8770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C2340"/>
                </a:solidFill>
                <a:latin typeface="Georg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43708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Languages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66944" y="3931920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58384" y="38770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A8FAE"/>
                </a:solidFill>
                <a:latin typeface="Georgia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58384" y="43708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Weeks to Go-Live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34656" y="3931920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8770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C2340"/>
                </a:solidFill>
                <a:latin typeface="Georgia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6096" y="43708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Core Modules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02368" y="3931920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3808" y="38770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77552"/>
                </a:solidFill>
                <a:latin typeface="Georgia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43708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Extra Headcount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PLATFORM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THREE CORE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What We're Building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36192"/>
            <a:ext cx="3703320" cy="3401568"/>
          </a:xfrm>
          <a:prstGeom prst="rect">
            <a:avLst/>
          </a:prstGeom>
          <a:solidFill>
            <a:srgbClr val="E2F4F8"/>
          </a:solidFill>
          <a:ln w="1524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3703320" cy="731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700784"/>
            <a:ext cx="1188720" cy="228600"/>
          </a:xfrm>
          <a:prstGeom prst="rect">
            <a:avLst/>
          </a:prstGeom>
          <a:solidFill>
            <a:srgbClr val="E2F4F8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7134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AIWA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29968"/>
            <a:ext cx="34472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Georgia"/>
              </a:rPr>
              <a:t>WhatsApp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596896"/>
            <a:ext cx="34472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24/7 bilingual patient engagement on WhatsApp — booking, documents, outbound campaigns &amp; coordinator handoff.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Booking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Arabic / 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95728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95728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Campaigns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82696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82696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Documents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2816" y="1536192"/>
            <a:ext cx="3703320" cy="3401568"/>
          </a:xfrm>
          <a:prstGeom prst="rect">
            <a:avLst/>
          </a:prstGeom>
          <a:solidFill>
            <a:srgbClr val="F5F8FC"/>
          </a:solidFill>
          <a:ln w="1524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2816" y="1536192"/>
            <a:ext cx="3703320" cy="731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8" y="1700784"/>
            <a:ext cx="1188720" cy="228600"/>
          </a:xfrm>
          <a:prstGeom prst="rect">
            <a:avLst/>
          </a:prstGeom>
          <a:solidFill>
            <a:srgbClr val="F5F8FC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17134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AIKA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2029968"/>
            <a:ext cx="34472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Georgia"/>
              </a:rPr>
              <a:t>Voice AI Receptionist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2596896"/>
            <a:ext cx="34472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24/7 inbound calls in Najdi Arabic &amp; English — conversational booking, reminders &amp; therapist confirmations.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Voice Booking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4376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94376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Reminders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1344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81344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Najdi Arabic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68312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68312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Outreach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28432" y="1536192"/>
            <a:ext cx="3703320" cy="3401568"/>
          </a:xfrm>
          <a:prstGeom prst="rect">
            <a:avLst/>
          </a:prstGeom>
          <a:solidFill>
            <a:srgbClr val="FDF2DC"/>
          </a:solidFill>
          <a:ln w="1524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28432" y="1536192"/>
            <a:ext cx="3703320" cy="73152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93024" y="1700784"/>
            <a:ext cx="1188720" cy="228600"/>
          </a:xfrm>
          <a:prstGeom prst="rect">
            <a:avLst/>
          </a:prstGeom>
          <a:solidFill>
            <a:srgbClr val="FDF2D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17134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2029968"/>
            <a:ext cx="34472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Georgia"/>
              </a:rPr>
              <a:t>Unified Command Center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2596896"/>
            <a:ext cx="34472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Real-time view of conversations, bookings, campaigns &amp; escalations across every channel.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93024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93024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Real-Time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79992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9992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Pipeline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66960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0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Analytics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53928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53928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Escalations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084064"/>
            <a:ext cx="1127455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1572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All modules integrate with: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0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Nixpend HMS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26864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26864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STC SIP Trunk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53328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53328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WhatsApp API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79792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79792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SMS Gateway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06256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06256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Payment Gateway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32720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32720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Google 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AIWA — WHATSAPP AI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AIWA — WhatsApp AI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276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Bilingual Conversations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56816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Seamless Arabic + English in the same chat. Auto language detection per message.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1554480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554480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6276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Conversational 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1956816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Service, date/time, location via Google Maps — writes directly to Nixpend HMS.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50592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450592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2374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Document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85292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Accepts prescriptions, referrals, wound photos (JPEG/PNG/PDF) — routes to coordinators.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2450592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2450592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252374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Booking Confirmation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285292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Auto-sends confirmation with therapist name, service, date &amp; time to patient.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46704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346704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1985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Outbound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4904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Broadcast promotions &amp; re-engagement by segment — service type, district, visit history.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8" y="3346704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3346704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341985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Human Handoff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374904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Escalates to coordinator on urgent language or explicit request — with full conversation context.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242816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242816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31596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Multi-Number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6451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Up to 3 WhatsApp Business numbers included across different service lines.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4242816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9048" y="4242816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431596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Live Dashboard Write-Back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46451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Every booking milestone updates the Unified Dashboard in real time.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047488"/>
            <a:ext cx="11274552" cy="38404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120640"/>
            <a:ext cx="110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Recommendation: A dedicated WhatsApp Business number for AIWA is strongly advised — separate from human-operated numbers to ensure a consistent AI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AIKA — VOICE AI RECEPTIONIST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AIKA — Voice AI Receptionist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276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24/7 Inbound Receptionist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56816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Answers every call in Najdi Arabic &amp; English. No more missed calls, ever.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1554480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554480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6276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Voice 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1956816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Conversational booking over the phone — writes directly to Nixpend HMS.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50592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450592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2374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Automated Patient Reminders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85292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Outbound reminder call 2 hours before every appointment. Reduces no-shows.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2450592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2450592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252374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Therapist Confirmation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285292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Outbound call to therapist immediately after each new booking. Language auto-detected.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46704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346704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1985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Voice Campaign 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4904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Health check reminders, promotions &amp; follow-ups with call list and retry logic.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8" y="3346704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3346704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341985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Structured Outcome Capture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374904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Result per call: interested / not interested / callback requested / booking requested.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242816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242816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31596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STC SIP Trunk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6451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Uses Vitality's existing STC infrastructure. 1 AIKA voice DID included.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4242816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9048" y="4242816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431596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Natural Arabic Voice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46451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Premium Najdi Arabic TTS via ElevenLabs — warm, natural voice that feels local.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047488"/>
            <a:ext cx="11274552" cy="384048"/>
          </a:xfrm>
          <a:prstGeom prst="rect">
            <a:avLst/>
          </a:prstGeom>
          <a:solidFill>
            <a:srgbClr val="E2F4F8"/>
          </a:solidFill>
          <a:ln w="762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102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76E86"/>
                </a:solidFill>
                <a:latin typeface="Calibri"/>
              </a:rPr>
              <a:t>15,000 voice minutes/year included  ·  Powered by Vapi + OpenAI/Gemini + ElevenLabs TTS  ·  Saudi-region cloud (AWS Bahrain / KSA)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UNIFIED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Unified Command Center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64008" cy="1389888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64208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Real-Time 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8483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Active WhatsApp conversations &amp; live calls visible in one 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554480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554480"/>
            <a:ext cx="64008" cy="13898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1664208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Booking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08483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Requested → Matched → Confirmed → Reminded → Completed.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2" y="1554480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2" y="1554480"/>
            <a:ext cx="64008" cy="13898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664208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Therapist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08483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Availability, district assignments &amp; booking load per therapist.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54096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64008" cy="1389888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163824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Campaign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844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WhatsApp &amp; voice campaign performance — conversions &amp; outcomes.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054096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2816" y="3054096"/>
            <a:ext cx="64008" cy="1389888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3163824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Coordinator Escalation Inbox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35844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All escalated chats &amp; calls with full context — ready for takeover.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8432" y="3054096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28432" y="3054096"/>
            <a:ext cx="64008" cy="1389888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63824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Export &amp;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35844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Operational &amp; clinical data export for management &amp; HMS reconciliation.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11274552" cy="384048"/>
          </a:xfrm>
          <a:prstGeom prst="rect">
            <a:avLst/>
          </a:prstGeom>
          <a:solidFill>
            <a:srgbClr val="E2F4F8"/>
          </a:solidFill>
          <a:ln w="762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736592"/>
            <a:ext cx="110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8FAE"/>
                </a:solidFill>
                <a:latin typeface="Calibri"/>
              </a:rPr>
              <a:t>Coordinator accounts included  ·  Saudi-region data residency  ·  AES-256 at rest  ·  TLS 1.2+ in transit  ·  Full audit trail on all booking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TECHNICAL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INTEGRATION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How It All Connects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47548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73152" cy="68580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Patient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38528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7696"/>
                </a:solidFill>
                <a:latin typeface="Calibri"/>
              </a:rPr>
              <a:t>WhatsApp Business  ·  Voice via STC SIP Trunk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322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A8FAE"/>
                </a:solidFill>
                <a:latin typeface="Calibri"/>
              </a:rPr>
              <a:t>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47548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73152" cy="6858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97480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AI Agents &amp;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17520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7696"/>
                </a:solidFill>
                <a:latin typeface="Calibri"/>
              </a:rPr>
              <a:t>AIWA (WhatsApp)  ·  AIKA (Voice)  ·  Unified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401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A8FAE"/>
                </a:solidFill>
                <a:latin typeface="Calibri"/>
              </a:rPr>
              <a:t>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30752"/>
            <a:ext cx="47548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30752"/>
            <a:ext cx="73152" cy="68580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7647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Nixpend HMS — System of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96512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7696"/>
                </a:solidFill>
                <a:latin typeface="Calibri"/>
              </a:rPr>
              <a:t>Booking · Patient records · Therapist data · District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480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57708"/>
                </a:solidFill>
                <a:latin typeface="Calibri"/>
              </a:rPr>
              <a:t>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09744"/>
            <a:ext cx="47548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09744"/>
            <a:ext cx="73152" cy="685800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55464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Third-Party Integrations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7550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7696"/>
                </a:solidFill>
                <a:latin typeface="Calibri"/>
              </a:rPr>
              <a:t>SMS Gateway  ·  Payment Gateway  ·  Google Maps  ·  Email SMTP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157276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AI &amp; VOICE STACK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1847088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77840" y="1847088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18836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OpenAI / Google Gemini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2157984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LLM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2505456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7840" y="2505456"/>
            <a:ext cx="45720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25420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ElevenLabs TTS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2816352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Najdi Arabic voice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3163824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7840" y="3163824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32004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Speech-to-Text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347472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Voice transcription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3822192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577840" y="3822192"/>
            <a:ext cx="45720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3858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Vapi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413308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Agent orchestration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4480560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77840" y="4480560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15000" y="45171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Twilio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4791456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Voice &amp; SMS routing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157276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INFRASTRUCTURE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1847088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15400" y="1847088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18836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AWS KSA / Bahrain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2157984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Saudi-region cloud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15400" y="2505456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15400" y="2505456"/>
            <a:ext cx="45720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25420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TLS 1.2+ · AES-256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2816352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Encryption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15400" y="3163824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15400" y="3163824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32004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Google Maps API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347472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Location &amp; matching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15400" y="3822192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15400" y="3822192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3858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SMTP Email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413308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Notifications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15400" y="4480560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915400" y="4480560"/>
            <a:ext cx="45720" cy="530352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52560" y="45171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Audit Trail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0" y="4791456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All actions logged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49240" y="1536192"/>
            <a:ext cx="10160" cy="402336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686800" y="1536192"/>
            <a:ext cx="10160" cy="402336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8-WEEK DELIVERY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DELIVERY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8 Weeks to Go-Live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11274552" cy="932688"/>
          </a:xfrm>
          <a:prstGeom prst="rect">
            <a:avLst/>
          </a:prstGeom>
          <a:solidFill>
            <a:srgbClr val="E2F4F8"/>
          </a:solidFill>
          <a:ln w="762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64008" cy="932688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792224"/>
            <a:ext cx="502920" cy="50292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922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66420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Kickoff &amp;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048256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Project kickoff  ·  Nixpend API review &amp; sandbox access  ·  WhatsApp BSP provisioning  ·  SIP trunk config with STC  ·  Cloud setup  ·  Requirements freeze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9880" y="1883664"/>
            <a:ext cx="1143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9880" y="18836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A8FAE"/>
                </a:solidFill>
                <a:latin typeface="Calibri"/>
              </a:rPr>
              <a:t>Week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96896"/>
            <a:ext cx="11274552" cy="932688"/>
          </a:xfrm>
          <a:prstGeom prst="rect">
            <a:avLst/>
          </a:prstGeom>
          <a:solidFill>
            <a:srgbClr val="F5F8FC"/>
          </a:solidFill>
          <a:ln w="762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596896"/>
            <a:ext cx="64008" cy="9326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816352"/>
            <a:ext cx="502920" cy="50292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816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68833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Core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072384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AIWA WhatsApp agent  ·  AIKA Voice agent  ·  Nixpend HMS integration  ·  Unified Dashboard  ·  Arabic (Najdi) language tuning  ·  Internal 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69880" y="2907792"/>
            <a:ext cx="1143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9880" y="290779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C2340"/>
                </a:solidFill>
                <a:latin typeface="Calibri"/>
              </a:rPr>
              <a:t>Weeks 2–5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21024"/>
            <a:ext cx="11274552" cy="93268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621024"/>
            <a:ext cx="64008" cy="932688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712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Integration &amp; UAT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096512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SMS &amp; payment gateway  ·  End-to-end flow testing  ·  User acceptance testing (UAT)  ·  Bug fixes  ·  Coordinator onboarding (2 × 1hr remote sessions)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69880" y="3931920"/>
            <a:ext cx="1143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9880" y="393192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57708"/>
                </a:solidFill>
                <a:latin typeface="Calibri"/>
              </a:rPr>
              <a:t>Weeks 6–7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45152"/>
            <a:ext cx="11274552" cy="932688"/>
          </a:xfrm>
          <a:prstGeom prst="rect">
            <a:avLst/>
          </a:prstGeom>
          <a:solidFill>
            <a:srgbClr val="E4F5EE"/>
          </a:solidFill>
          <a:ln w="762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645152"/>
            <a:ext cx="64008" cy="932688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864608"/>
            <a:ext cx="502920" cy="502920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864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73659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Go-Live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5120640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Production deployment  ·  Live monitoring &amp; go-live support  ·  Handover documentation  ·  Support handoff to ops team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4956048"/>
            <a:ext cx="1143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9880" y="495604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77552"/>
                </a:solidFill>
                <a:latin typeface="Calibri"/>
              </a:rPr>
              <a:t>Week 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596128"/>
            <a:ext cx="11274552" cy="38404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669280"/>
            <a:ext cx="110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Timeline Risk: The 8-week schedule assumes Day 1 sandbox access to Nixpend HMS, STC SIP trunk ready for integration, and SMS/payment providers selected. Delays will shift the Go-Live 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KEY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PROJECT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Success Checkpoints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627632"/>
            <a:ext cx="36576" cy="484632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992" y="1682496"/>
            <a:ext cx="228600" cy="22860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A8FAE"/>
                </a:solidFill>
                <a:latin typeface="Calibri"/>
              </a:rPr>
              <a:t>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15727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Requirements Freeze + All Sandbox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019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Master data templates submitted  ·  All third-party access provisioned  ·  SIP trunk config confirmed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2395728"/>
            <a:ext cx="228600" cy="22860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59152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9152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A8FAE"/>
                </a:solidFill>
                <a:latin typeface="Calibri"/>
              </a:rP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2860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AIWA Alpha — WhatsApp Booking Flow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261518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End-to-end WhatsApp booking in Arabic/English writing to Nixpend sandbox confirmed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" y="3108960"/>
            <a:ext cx="228600" cy="2286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072384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72384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C2340"/>
                </a:solidFill>
                <a:latin typeface="Calibri"/>
              </a:rPr>
              <a:t>Week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29992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AIKA Alpha + Nixpend Integration Alpha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3284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Voice booking over SIP trunk  ·  Nixpend read/write confirmed  ·  Reminder calls functional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992" y="3822192"/>
            <a:ext cx="228600" cy="2286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785616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85616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C2340"/>
                </a:solidFill>
                <a:latin typeface="Calibri"/>
              </a:rPr>
              <a:t>Week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71246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Unified Dashboard Build 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0416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Real-time pipeline  ·  Coordinator inbox  ·  Campaign metrics all visible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8992" y="4535424"/>
            <a:ext cx="228600" cy="22860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498848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498848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B57708"/>
                </a:solidFill>
                <a:latin typeface="Calibri"/>
              </a:rPr>
              <a:t>Week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4425696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Full Integration Test — All Channels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7548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SMS gateway, payment gateway, email notifications — all connected and tested end-to-end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8992" y="5248656"/>
            <a:ext cx="228600" cy="22860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212080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212080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B57708"/>
                </a:solidFill>
                <a:latin typeface="Calibri"/>
              </a:rPr>
              <a:t>Week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51389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UAT Complete + Coordinator Onboarded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546811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Vitality UAT sign-off  ·  All issues resolved  ·  Training sessions complete  ·  Go-Live approved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8992" y="5961888"/>
            <a:ext cx="228600" cy="228600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925312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25312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77552"/>
                </a:solidFill>
                <a:latin typeface="Calibri"/>
              </a:rPr>
              <a:t>Week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1328" y="5852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Go-Live — Production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81328" y="618134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Live patient traffic  ·  CodeOx on go-live monitoring standby  ·  Handover documentation delivered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REQUIREMENTS FROM VITALITY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WHAT WE NEED FROM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The Go-Live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Every item below sits on the critical path. The earlier Vitality provides these, the sooner we can deliver.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195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01952"/>
            <a:ext cx="64008" cy="868680"/>
          </a:xfrm>
          <a:prstGeom prst="rect">
            <a:avLst/>
          </a:prstGeom>
          <a:solidFill>
            <a:srgbClr val="BB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7510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SIP Trunk — STC Telephony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2257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Server credentials, DID numbers, codec config, firewall rules &amp; STC liaison contact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42032"/>
            <a:ext cx="1371600" cy="228600"/>
          </a:xfrm>
          <a:prstGeom prst="rect">
            <a:avLst/>
          </a:prstGeom>
          <a:solidFill>
            <a:srgbClr val="FCE9E7"/>
          </a:solidFill>
          <a:ln w="635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547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Critical — Week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8" y="190195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9048" y="1901952"/>
            <a:ext cx="64008" cy="86868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97510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Nixpend HMS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32257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Full API docs, sandbox URL, credentials, auth method, all required endpoints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1928" y="2542032"/>
            <a:ext cx="1371600" cy="228600"/>
          </a:xfrm>
          <a:prstGeom prst="rect">
            <a:avLst/>
          </a:prstGeom>
          <a:solidFill>
            <a:srgbClr val="FCE9E7"/>
          </a:solidFill>
          <a:ln w="635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25547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Critical — Day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6207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862072"/>
            <a:ext cx="64008" cy="8686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3522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WhatsApp, SMS &amp; 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8269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Dedicated WA number decision, SMS provider &amp; payment gateway selection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502152"/>
            <a:ext cx="1371600" cy="228600"/>
          </a:xfrm>
          <a:prstGeom prst="rect">
            <a:avLst/>
          </a:prstGeom>
          <a:solidFill>
            <a:srgbClr val="FDF2D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148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Required — Week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9048" y="286207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9048" y="2862072"/>
            <a:ext cx="64008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293522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Master Data &amp; 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328269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Service catalog, therapist roster, district map, scripts, branding assets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1928" y="3502152"/>
            <a:ext cx="1371600" cy="228600"/>
          </a:xfrm>
          <a:prstGeom prst="rect">
            <a:avLst/>
          </a:prstGeom>
          <a:solidFill>
            <a:srgbClr val="FDF2D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8" y="35148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Required — Week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82219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822192"/>
            <a:ext cx="64008" cy="868680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89534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Team &amp; System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24281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IT contact, coordinator users, UAT team, executive sponsor, email relay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462272"/>
            <a:ext cx="1371600" cy="228600"/>
          </a:xfrm>
          <a:prstGeom prst="rect">
            <a:avLst/>
          </a:prstGeom>
          <a:solidFill>
            <a:srgbClr val="FDF2D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749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Required — Week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9048" y="382219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9048" y="3822192"/>
            <a:ext cx="64008" cy="8686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8" y="389534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Feedback Turnaround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1928" y="424281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24–48 business hour response on all review requests and approvals throughout build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81928" y="4462272"/>
            <a:ext cx="1371600" cy="228600"/>
          </a:xfrm>
          <a:prstGeom prst="rect">
            <a:avLst/>
          </a:prstGeom>
          <a:solidFill>
            <a:srgbClr val="E2F4F8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1928" y="44749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Ongoing — All Phases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SIP TRUNK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TELEPHONY — STC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SIP Trunk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AIKA connects to Vitality's existing STC SIP trunk. All items below must be confirmed before end of Week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CONNECTIVITY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NUMBERS, CAPACITY &amp; NETWORK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47088"/>
            <a:ext cx="10160" cy="33832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854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121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SIP server hostname or IP address + 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426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78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SIP domain / realm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998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0358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Transport protocol  (UDP / TCP / TLS — TLS preferred)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570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930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SIP trunk username, password &amp; auth credentials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142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502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Outbound proxy address  (if applicable)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714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407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DTMF mode  (RFC2833 strongly preferred)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286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864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Supported codecs  (G.711 µ-law/a-law, G.729)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854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121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DID number(s) for AIKA  (minimum 1 inbound DID)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6426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578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Maximum concurrent call capacity required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0998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30358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Call routing  (business hours vs. after-hours)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5570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4930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Existing IVR to be retired or migrated?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0142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9502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Firewall IP whitelist — CodeOx cloud IPs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4714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407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SIP ALG on NAT device  (must be DISABLED)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9286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4864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STC technical contact name + direct number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76672"/>
            <a:ext cx="11274552" cy="420624"/>
          </a:xfrm>
          <a:prstGeom prst="rect">
            <a:avLst/>
          </a:prstGeom>
          <a:solidFill>
            <a:srgbClr val="FCE9E7"/>
          </a:solidFill>
          <a:ln w="762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449824"/>
            <a:ext cx="11045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3528"/>
                </a:solidFill>
                <a:latin typeface="Calibri"/>
              </a:rPr>
              <a:t>Open Question: Has STC already been engaged? DID provisioning typically takes 1–2 weeks with STC. If not yet initiated, this process must begin TODAY to protect the go-live 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NIXPEND HMS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SYSTEM OF RECORD — HMS / ERP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Nixpend HMS Integration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Nixpend HMS is the core system of record. Every booking from AIWA and AIKA writes back here. We assume REST API — please confirm.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API ACCESS &amp;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REQUIRED API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47088"/>
            <a:ext cx="10160" cy="3840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854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121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Full API documentation  (Swagger / OpenAPI preferred)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426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78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Sandbox / staging environment URL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998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0358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Sandbox API credentials  (username / password or key)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570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930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Authentication method  (OAuth 2.0 / API Key / JWT?)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142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502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API base URL + versioning format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714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407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Rate limits and throttling policy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286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864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Nixpend technical contact for API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854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12140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Patient lookup / search by phone or 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578608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51460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Create new patient 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971800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290779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Booking creation  (service, date, time, patient, therapist)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364992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300984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Booking update / cancellation endpoint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758184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694176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Therapist availability query  (by date + district)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15137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08736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Service catalog / service type 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544568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448056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District / zone mapping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937760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48737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Booking status read-back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5330952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0528" y="5266944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Webhook / callback support?  (async status push)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376672"/>
            <a:ext cx="11274552" cy="420624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449824"/>
            <a:ext cx="11045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Assumption: Standard REST API. If Nixpend uses SOAP, direct DB, or file-based integration, timeline and cost will need revision.   |   Is Nixpend HMS currently live and sandbox stable?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WHATSAPP · SMS · PAYMENT GATEWAY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THIRD-PARTY 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WhatsApp, SMS &amp; Payment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36192"/>
            <a:ext cx="3703320" cy="3749039"/>
          </a:xfrm>
          <a:prstGeom prst="rect">
            <a:avLst/>
          </a:prstGeom>
          <a:solidFill>
            <a:srgbClr val="E2F4F8"/>
          </a:solidFill>
          <a:ln w="1524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3703320" cy="731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700784"/>
            <a:ext cx="3447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WhatsApp Business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212848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139696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Dedicated phone number  (new or port existing?)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2633472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560320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Meta Business Account (WABA)  — existing or new?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054096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980944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Business display name for Meta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3474720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401568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Business category &amp; 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3895344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822192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Facebook Business Manager 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315968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242816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Meta Business Verification 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83480"/>
            <a:ext cx="3703320" cy="38404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56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Note: BSP provisioning included. Meta per-conversation fees are NOT.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816" y="1536192"/>
            <a:ext cx="3703320" cy="3749039"/>
          </a:xfrm>
          <a:prstGeom prst="rect">
            <a:avLst/>
          </a:prstGeom>
          <a:solidFill>
            <a:srgbClr val="F5F8FC"/>
          </a:solidFill>
          <a:ln w="1524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1536192"/>
            <a:ext cx="3703320" cy="731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1700784"/>
            <a:ext cx="3447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SMS Gateway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2212848"/>
            <a:ext cx="82296" cy="822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139696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Provider?  (Unifonic / Taqnyat / Msegat / Infobip)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2633472"/>
            <a:ext cx="82296" cy="822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2560320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CITC-registered Arabic Sender 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8" y="3054096"/>
            <a:ext cx="82296" cy="822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2980944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API credentials  (key + secret)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7408" y="3474720"/>
            <a:ext cx="82296" cy="822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3401568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Arabic SMS Unicode support confirmed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8" y="3895344"/>
            <a:ext cx="82296" cy="822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822192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Account active and funded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42816" y="4983480"/>
            <a:ext cx="3703320" cy="38404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9976" y="5056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Note: Integration included. Subscription &amp; per-message fees are NOT.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28432" y="1536192"/>
            <a:ext cx="3703320" cy="3749039"/>
          </a:xfrm>
          <a:prstGeom prst="rect">
            <a:avLst/>
          </a:prstGeom>
          <a:solidFill>
            <a:srgbClr val="FDF2DC"/>
          </a:solidFill>
          <a:ln w="1524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2" y="1536192"/>
            <a:ext cx="3703320" cy="73152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3024" y="1700784"/>
            <a:ext cx="3447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Payment Gateway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93024" y="2212848"/>
            <a:ext cx="82296" cy="82296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57616" y="2139696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Provider?  (HyperPay / PayTabs / Moyasar / Checkout)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93024" y="2633472"/>
            <a:ext cx="82296" cy="82296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2560320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Merchant account active &amp; verified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93024" y="3054096"/>
            <a:ext cx="82296" cy="82296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7616" y="2980944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Sandbox / test API keys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93024" y="3474720"/>
            <a:ext cx="82296" cy="82296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7616" y="3401568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Production API keys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93024" y="3895344"/>
            <a:ext cx="82296" cy="82296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57616" y="3822192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Payment methods  (mada, Visa, Apple Pay)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28432" y="4983480"/>
            <a:ext cx="3703320" cy="38404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5592" y="5056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Note: Integration included. Transaction fees are 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DATA, CONTENT &amp; BRANDING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MASTER DATA &amp;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What the AI Needs to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MASTER DATA  (spreadsheet / CSV)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SCRIPTS, BRANDING &amp;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847088"/>
            <a:ext cx="10160" cy="3840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854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21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Full service catalog  (code, Arabic name, English name, description, price)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Therapist roster  (name, specialization, districts, mobile, language)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998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358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District / zone map of Riyadh  (Arabic + English names)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570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930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Working hours per service line  (incl. weekends &amp; Ramadan)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142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9502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2026 KSA public holiday calendar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714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407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Coordinator contact list  (name, role, mobile, WhatsApp)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286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864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Escalation trigger keywords / scenarios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1854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212140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Arabic patient greeting script  (WhatsApp + voice)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578608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51460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English patient greeting script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971800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290779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Out-of-hours message template  (Arabic + English)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364992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300984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FAQ document  (top 20+ patient questions + answers)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758184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694176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Escalation handoff message to patient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15137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08736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Vitality logo  (SVG or PNG, high-resolution)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544568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448056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Brand color codes  (primary &amp; secondary HEX)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937760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48737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Tone of voice guidelines  (formal/informal, no-go topics)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330952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5266944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Service description copy  (used by AI per service)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376672"/>
            <a:ext cx="11274552" cy="420624"/>
          </a:xfrm>
          <a:prstGeom prst="rect">
            <a:avLst/>
          </a:prstGeom>
          <a:solidFill>
            <a:srgbClr val="E2F4F8"/>
          </a:solidFill>
          <a:ln w="762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449824"/>
            <a:ext cx="11045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8FAE"/>
                </a:solidFill>
                <a:latin typeface="Calibri"/>
              </a:rPr>
              <a:t>Templates Provided by CodeOx: We will share structured data collection templates (Excel + Google Sheets) for service catalog, therapist roster and district mapping. Please return completed within 5 business days.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TEAM &amp; 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CONTACTS &amp;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Team Structure &amp; Cadence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481328"/>
            <a:ext cx="10160" cy="3749039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76E86"/>
                </a:solidFill>
                <a:latin typeface="Calibri"/>
              </a:rPr>
              <a:t>CODE-OX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0876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57708"/>
                </a:solidFill>
                <a:latin typeface="Calibri"/>
              </a:rPr>
              <a:t>VITALITY TEAM — CONFIRM NAMES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39496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64008" cy="71323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901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Technical Project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23113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shabeeb.k@code-ox.com  ·  +966 53 571 6437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33472"/>
            <a:ext cx="539496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633472"/>
            <a:ext cx="64008" cy="7132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066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Commercial Project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03580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shabeeb.k@code-ox.com  ·  COX-MSA-VTL-2026-001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38144"/>
            <a:ext cx="539496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38144"/>
            <a:ext cx="64008" cy="713232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5112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Standard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840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Mon–Fri  09:00–18:00 AST  ·  1-day acknowledgement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828800"/>
            <a:ext cx="55778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828800"/>
            <a:ext cx="64008" cy="713232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1901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Executive Sponsor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2231136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Final approvals &amp; escalation  ·  Name: ___________________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633472"/>
            <a:ext cx="55778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633472"/>
            <a:ext cx="64008" cy="7132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706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Technical 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03580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Nixpend API + STC SIP liaison  ·  Name: ___________________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438144"/>
            <a:ext cx="55778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438144"/>
            <a:ext cx="64008" cy="71323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5112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Operations Coordinator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84048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UAT lead &amp; training  ·  Name: ___________________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242816"/>
            <a:ext cx="55778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242816"/>
            <a:ext cx="64008" cy="713232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315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IT Contact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464515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Firewall, network &amp; email relay  ·  Name: ___________________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02352"/>
            <a:ext cx="11274552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17550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A8FAE"/>
                </a:solidFill>
                <a:latin typeface="Georgia"/>
              </a:rPr>
              <a:t>Weekly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5961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Status updates from CodeOx (Fridays)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5212080"/>
            <a:ext cx="10160" cy="512064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19" y="517550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C2340"/>
                </a:solidFill>
                <a:latin typeface="Georgia"/>
              </a:rPr>
              <a:t>24–48h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19" y="55961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Feedback turnaround from Vitality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79" y="5212080"/>
            <a:ext cx="10160" cy="512064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58" y="517550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57708"/>
                </a:solidFill>
                <a:latin typeface="Georgia"/>
              </a:rPr>
              <a:t>Quarterly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58" y="55961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Review meetings post go-live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OPEN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Open Questions for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6459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STC SIP Trunk — Engagement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197510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Has STC been contacted? Provisioning takes 1–2 weeks — we may need to start TODAY.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1572768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9048" y="1572768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1572768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6459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Nixpend HMS — API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7510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Is the API documented and stable? Are there known limitations? Is sandbox available now?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414016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14016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248716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WhatsApp Number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281635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New dedicated number or port an existing one? Existing Meta Business Account?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9048" y="2414016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2414016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2414016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48716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SMS &amp; Payment — Provider Shortlisted?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81635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If not, we recommend Unifonic (SMS) and Moyasar or HyperPay (payments) for Saudi compliance.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55264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255264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255264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332841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Campaigns — Week 8 or Phase 2?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365760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Are AIWA outbound marketing and AIKA voice campaigns in scope for the initial go-live?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9048" y="3255264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9048" y="3255264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8" y="3255264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32841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UAT Team — Available Weeks 6–7?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65760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We need named technical and operational UAT participants. Please confirm availability.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096512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096512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096512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416966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Internal PDPL / Data Privacy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449884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Internal data policies to align with? Patient consent flow or retention requirements?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9048" y="4096512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99048" y="4096512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8" y="4096512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16966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Post-Go-Live Monitoring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449884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Standard business-hours support sufficient, or Premium 24/7 support needed at launch?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937760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937760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937760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501091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Communication Channel Preference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534009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Shared WhatsApp group for day-to-day coordination, or email + weekly video call?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9048" y="4937760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99048" y="4937760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99048" y="4937760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501091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Go-Live Date — Confirm &amp; Lock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60" y="534009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Business events or peak seasons that would affect the 8-week target?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POST-KICKOFF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What Happens This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481328"/>
            <a:ext cx="10160" cy="416052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76E86"/>
                </a:solidFill>
                <a:latin typeface="Calibri"/>
              </a:rPr>
              <a:t>CODE-OX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57708"/>
                </a:solidFill>
                <a:latin typeface="Calibri"/>
              </a:rPr>
              <a:t>VITALITY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8836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Provision sandbox cloud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993392"/>
            <a:ext cx="960120" cy="237744"/>
          </a:xfrm>
          <a:prstGeom prst="rect">
            <a:avLst/>
          </a:prstGeom>
          <a:solidFill>
            <a:srgbClr val="E2F4F8"/>
          </a:solidFill>
          <a:ln w="508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199339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02996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Tech Lead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05456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Send WhatsApp BSP provisioning checklist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2670048"/>
            <a:ext cx="960120" cy="237744"/>
          </a:xfrm>
          <a:prstGeom prst="rect">
            <a:avLst/>
          </a:prstGeom>
          <a:solidFill>
            <a:srgbClr val="F5F8FC"/>
          </a:solidFill>
          <a:ln w="508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2670048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This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706624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Tech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82112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2369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Share SIP trunk configuration spec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3346704"/>
            <a:ext cx="960120" cy="237744"/>
          </a:xfrm>
          <a:prstGeom prst="rect">
            <a:avLst/>
          </a:prstGeom>
          <a:solidFill>
            <a:srgbClr val="F5F8FC"/>
          </a:solidFill>
          <a:ln w="508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3346704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This 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383280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Tech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58768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913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Share Nixpend API integration questionnaire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4528" y="4023360"/>
            <a:ext cx="960120" cy="237744"/>
          </a:xfrm>
          <a:prstGeom prst="rect">
            <a:avLst/>
          </a:prstGeom>
          <a:solidFill>
            <a:srgbClr val="F5F8FC"/>
          </a:solidFill>
          <a:ln w="508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4528" y="4023360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This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059936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Tech 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535424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590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Send data collection templates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4700016"/>
            <a:ext cx="960120" cy="237744"/>
          </a:xfrm>
          <a:prstGeom prst="rect">
            <a:avLst/>
          </a:prstGeom>
          <a:solidFill>
            <a:srgbClr val="F5F8FC"/>
          </a:solidFill>
          <a:ln w="508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24528" y="4700016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This week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73659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Comm Lead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212080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5266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Confirm go-live date + weekly sync schedule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24528" y="5376672"/>
            <a:ext cx="960120" cy="237744"/>
          </a:xfrm>
          <a:prstGeom prst="rect">
            <a:avLst/>
          </a:prstGeom>
          <a:solidFill>
            <a:srgbClr val="E2F4F8"/>
          </a:solidFill>
          <a:ln w="508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24528" y="537667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Today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800" y="541324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Both teams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1828800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1883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Engage STC for SIP trunk / DID provisioning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95560" y="1993392"/>
            <a:ext cx="987552" cy="237744"/>
          </a:xfrm>
          <a:prstGeom prst="rect">
            <a:avLst/>
          </a:prstGeom>
          <a:solidFill>
            <a:srgbClr val="FCE9E7"/>
          </a:solidFill>
          <a:ln w="508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5560" y="1993392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TODAY 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202996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IT Contact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2505456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25603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Share Nixpend API docs + sandbox access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95560" y="2670048"/>
            <a:ext cx="987552" cy="237744"/>
          </a:xfrm>
          <a:prstGeom prst="rect">
            <a:avLst/>
          </a:prstGeom>
          <a:solidFill>
            <a:srgbClr val="FCE9E7"/>
          </a:solidFill>
          <a:ln w="508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95560" y="2670048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By EOW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270662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Tech Contact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182112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73952" y="323697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Confirm dedicated WhatsApp number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95560" y="3346704"/>
            <a:ext cx="987552" cy="237744"/>
          </a:xfrm>
          <a:prstGeom prst="rect">
            <a:avLst/>
          </a:prstGeom>
          <a:solidFill>
            <a:srgbClr val="FCE9E7"/>
          </a:solidFill>
          <a:ln w="508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95560" y="3346704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By EOW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33832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Ops Lead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3858768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73952" y="39136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Confirm SMS &amp; payment gateway selection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95560" y="4023360"/>
            <a:ext cx="987552" cy="237744"/>
          </a:xfrm>
          <a:prstGeom prst="rect">
            <a:avLst/>
          </a:prstGeom>
          <a:solidFill>
            <a:srgbClr val="FCE9E7"/>
          </a:solidFill>
          <a:ln w="508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95560" y="4023360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By EOW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405993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Ops Lead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4535424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3952" y="45902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Return completed data templates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95560" y="4700016"/>
            <a:ext cx="987552" cy="237744"/>
          </a:xfrm>
          <a:prstGeom prst="rect">
            <a:avLst/>
          </a:prstGeom>
          <a:solidFill>
            <a:srgbClr val="FDF2DC"/>
          </a:solidFill>
          <a:ln w="508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95560" y="4700016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Week 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0" y="473659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Ops Lead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5212080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73952" y="52669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Name UAT team participants  (Weeks 6–7)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95560" y="5376672"/>
            <a:ext cx="987552" cy="237744"/>
          </a:xfrm>
          <a:prstGeom prst="rect">
            <a:avLst/>
          </a:prstGeom>
          <a:solidFill>
            <a:srgbClr val="FDF2DC"/>
          </a:solidFill>
          <a:ln w="508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95560" y="5376672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Week 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54132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Exec Sponsor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715000"/>
            <a:ext cx="11274552" cy="6400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81558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First Weekly Sync — Date to be confirmed before end of today's session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0" y="581558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B8D8"/>
                </a:solidFill>
                <a:latin typeface="Calibri"/>
              </a:rPr>
              <a:t>shabeeb.k@code-ox.com  ·  +966 53 571 6437  ·  code-ox.com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605332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789A"/>
                </a:solidFill>
                <a:latin typeface="Calibri"/>
              </a:rPr>
              <a:t>Confidential  ·  Code-ox Technologies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